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the project title, tagline, and all four team members with register numbers. Mention this is Review 1, focused on title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 unified, interactive environment helps students learn OS concepts more effectively than fragmented theory. End on the bridging-the-gap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motivation for choosing this project and introduce CampusShell as the proposed idea. Emphasize clearly it is a mini environment, not a full kernel.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 briefly, reinforcing that these are the planned goals to be achieved incrementally across the project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proposed modular architecture: parser, process management, file/IO, and monitoring. Stress that these are proposed/planned modules, not yet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7-phase roadmap derived from the 12-week plan. Emphasize progressive, incremental development from a basic REPL to a full mini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expected outcomes and close with the conclusion statement. Thank the panel for their time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035040" cy="292608"/>
          </a:xfrm>
          <a:prstGeom prst="roundRect">
            <a:avLst>
              <a:gd name="adj" fmla="val 18750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577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5577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" y="5577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457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guest@campus-lab:~$ ./campusshell --init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1</a:t>
            </a:r>
            <a:pPr indent="0" marL="0">
              <a:buNone/>
            </a:pPr>
            <a:r>
              <a:rPr lang="en-US" sz="1100" spc="100" kern="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PROJECT TITLE IDENTIFICATION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002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A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CampusShell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505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Unix-Like Operating Environment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1208" y="3063240"/>
            <a:ext cx="2926080" cy="0"/>
          </a:xfrm>
          <a:prstGeom prst="line">
            <a:avLst/>
          </a:prstGeom>
          <a:noFill/>
          <a:ln w="19050">
            <a:solidFill>
              <a:srgbClr val="2FE6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2004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interactive command-line environment for exploring core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concepts.”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 (Course / Dept. placeholder)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185855" cy="1920240"/>
          </a:xfrm>
          <a:prstGeom prst="roundRect">
            <a:avLst>
              <a:gd name="adj" fmla="val 3810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pic>
        <p:nvPicPr>
          <p:cNvPr id="14" name="Image 0" descr="/home/claude/campusshell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177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97280" y="4590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31520" y="5029200"/>
            <a:ext cx="2659304" cy="1188720"/>
          </a:xfrm>
          <a:prstGeom prst="roundRect">
            <a:avLst>
              <a:gd name="adj" fmla="val 4615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" y="512064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 Lakshmi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5623560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2510030312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573704" y="5029200"/>
            <a:ext cx="2659304" cy="1188720"/>
          </a:xfrm>
          <a:prstGeom prst="roundRect">
            <a:avLst>
              <a:gd name="adj" fmla="val 4615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83432" y="512064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Spoorthy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3683432" y="5623560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2510030107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15888" y="5029200"/>
            <a:ext cx="2659304" cy="1188720"/>
          </a:xfrm>
          <a:prstGeom prst="roundRect">
            <a:avLst>
              <a:gd name="adj" fmla="val 4615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25616" y="512064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Sreeja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525616" y="5623560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2510030244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258071" y="5029200"/>
            <a:ext cx="2659304" cy="1188720"/>
          </a:xfrm>
          <a:prstGeom prst="roundRect">
            <a:avLst>
              <a:gd name="adj" fmla="val 4615"/>
            </a:avLst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67799" y="5120640"/>
            <a:ext cx="2439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367799" y="5623560"/>
            <a:ext cx="243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2510030341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7" name="Image 1" descr="/home/claude/campusshell/icon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72768"/>
            <a:ext cx="283464" cy="2834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34440" y="1417320"/>
            <a:ext cx="10454335" cy="777240"/>
          </a:xfrm>
          <a:prstGeom prst="roundRect">
            <a:avLst>
              <a:gd name="adj" fmla="val 7059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417320" y="141732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command-line interfaces can be difficult for beginners to understand.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1" name="Image 2" descr="/home/claude/campusshell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32888"/>
            <a:ext cx="283464" cy="28346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234440" y="2377440"/>
            <a:ext cx="10454335" cy="777240"/>
          </a:xfrm>
          <a:prstGeom prst="roundRect">
            <a:avLst>
              <a:gd name="adj" fmla="val 7059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417320" y="237744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concepts such as processes, files, memory, signals, and concurrency are often learned separately.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5" name="Image 3" descr="/home/claude/campusshell/icon_comp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93008"/>
            <a:ext cx="283464" cy="28346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34440" y="3337560"/>
            <a:ext cx="10454335" cy="777240"/>
          </a:xfrm>
          <a:prstGeom prst="roundRect">
            <a:avLst>
              <a:gd name="adj" fmla="val 7059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417320" y="33375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an interactive environment to connect theory with practical system-level operations.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9" name="Image 4" descr="/home/claude/campusshell/icon_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453128"/>
            <a:ext cx="283464" cy="28346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234440" y="4297680"/>
            <a:ext cx="10454335" cy="777240"/>
          </a:xfrm>
          <a:prstGeom prst="roundRect">
            <a:avLst>
              <a:gd name="adj" fmla="val 7059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1417320" y="42976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mini operating environment can make these concepts easier to explore.</a:t>
            </a:r>
            <a:endParaRPr lang="en-US" sz="1450" dirty="0"/>
          </a:p>
        </p:txBody>
      </p:sp>
      <p:sp>
        <p:nvSpPr>
          <p:cNvPr id="22" name="Shape 15"/>
          <p:cNvSpPr/>
          <p:nvPr/>
        </p:nvSpPr>
        <p:spPr>
          <a:xfrm>
            <a:off x="548640" y="5394960"/>
            <a:ext cx="11094415" cy="658368"/>
          </a:xfrm>
          <a:prstGeom prst="roundRect">
            <a:avLst>
              <a:gd name="adj" fmla="val 11111"/>
            </a:avLst>
          </a:prstGeom>
          <a:solidFill>
            <a:srgbClr val="0F2A24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822960" y="539496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“Bridging the gap between Operating System theory and practical command-line interaction.”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CampusShell  |  Review 1 — Project Title Identification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Proposed Idea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249424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208483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shell interacts with the operating system.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3182112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30175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process creation and command execution.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22960" y="4114800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395020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file management, pipelines, signals, and job control.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5047488"/>
            <a:ext cx="128016" cy="12801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488289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systems-programming project incrementally.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80760" y="1417320"/>
            <a:ext cx="5608015" cy="4709160"/>
          </a:xfrm>
          <a:prstGeom prst="roundRect">
            <a:avLst>
              <a:gd name="adj" fmla="val 1553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5508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IDEA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2148840"/>
            <a:ext cx="51050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CampusShell is proposed as a lightweight, Unix-like command-line environment that integrates essential OS functionalities into one interactive interface.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3794760"/>
            <a:ext cx="5105095" cy="1737360"/>
          </a:xfrm>
          <a:prstGeom prst="roundRect">
            <a:avLst>
              <a:gd name="adj" fmla="val 4211"/>
            </a:avLst>
          </a:prstGeom>
          <a:solidFill>
            <a:srgbClr val="1A1408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0" name="Image 1" descr="/home/claude/campusshell/icon_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97764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949440" y="3959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NOTE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6537960" y="4343400"/>
            <a:ext cx="4739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0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operating environment built on top of an existing OS — not a complete OS kernel.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CampusShell  |  Review 1 — Project Title Identification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check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3338" y="164592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9" name="Image 1" descr="/home/claude/campusshell/icon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494" y="175107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19456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command-line interface using C.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307738" y="15087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444898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7198157" y="164592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4" name="Image 2" descr="/home/claude/campusshell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313" y="1751076"/>
            <a:ext cx="246888" cy="2468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44898" y="219456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basic shell commands and built-in operations.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12557" y="150876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49717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11002975" y="164592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19" name="Image 3" descr="/home/claude/campusshell/icon_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8131" y="175107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49717" y="219456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process creation using fork(), exec(), and wait().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02920" y="361188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008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3393338" y="374904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24" name="Image 4" descr="/home/claude/campusshell/icon_fold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494" y="3854196"/>
            <a:ext cx="246888" cy="24688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0080" y="429768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file management, pipes, and I/O redirection.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307738" y="361188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4444898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7198157" y="374904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29" name="Image 5" descr="/home/claude/campusshell/icon_activ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313" y="3854196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444898" y="429768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signals, process monitoring, and job control.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112557" y="3611880"/>
            <a:ext cx="3576218" cy="1874520"/>
          </a:xfrm>
          <a:prstGeom prst="roundRect">
            <a:avLst>
              <a:gd name="adj" fmla="val 3902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249717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11002975" y="3749040"/>
            <a:ext cx="457200" cy="457200"/>
          </a:xfrm>
          <a:prstGeom prst="ellipse">
            <a:avLst/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pic>
        <p:nvPicPr>
          <p:cNvPr id="34" name="Image 6" descr="/home/claude/campusshell/icon_lay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8131" y="3854196"/>
            <a:ext cx="246888" cy="24688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49717" y="4297680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system using a modular and extensible architecture.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CampusShell  |  Review 1 — Project Title Identification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07128" y="14173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FE6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07128" y="1417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CampusShell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5848" y="1920240"/>
            <a:ext cx="0" cy="256032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68780" y="2176272"/>
            <a:ext cx="8854135" cy="0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68780" y="217627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5146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12" name="Image 1" descr="/home/claude/campusshell/icon_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6334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0120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668780" y="329184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49300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7512" y="372160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2104" y="3584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Tokenizer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67512" y="414223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32104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12" y="456285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32104" y="4425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20158" y="217627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454298" y="25146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24" name="Image 2" descr="/home/claude/campusshell/icon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314" y="263347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911498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620158" y="329184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454298" y="349300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618890" y="372160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3783482" y="3584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/ exec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618890" y="414223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783482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618890" y="456285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3783482" y="4425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Control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571537" y="217627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05677" y="25146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36" name="Image 3" descr="/home/claude/campusshell/icon_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693" y="2633472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862877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I/O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7571537" y="329184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405677" y="349300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570269" y="372160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6734861" y="3584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6570269" y="414223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6734861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Pipes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570269" y="456285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734861" y="4425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Redirection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10522915" y="2176272"/>
            <a:ext cx="0" cy="338328"/>
          </a:xfrm>
          <a:prstGeom prst="line">
            <a:avLst/>
          </a:prstGeom>
          <a:noFill/>
          <a:ln w="19050">
            <a:solidFill>
              <a:srgbClr val="26344E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9357055" y="25146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233A"/>
          </a:solidFill>
          <a:ln w="15875">
            <a:solidFill>
              <a:srgbClr val="5AC8FA"/>
            </a:solidFill>
            <a:prstDash val="solid"/>
          </a:ln>
        </p:spPr>
      </p:sp>
      <p:pic>
        <p:nvPicPr>
          <p:cNvPr id="48" name="Image 4" descr="/home/claude/campusshell/icon_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071" y="2633472"/>
            <a:ext cx="274320" cy="274320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814255" y="2514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50" name="Shape 43"/>
          <p:cNvSpPr/>
          <p:nvPr/>
        </p:nvSpPr>
        <p:spPr>
          <a:xfrm>
            <a:off x="10522915" y="3291840"/>
            <a:ext cx="0" cy="201168"/>
          </a:xfrm>
          <a:prstGeom prst="line">
            <a:avLst/>
          </a:prstGeom>
          <a:noFill/>
          <a:ln w="12700">
            <a:solidFill>
              <a:srgbClr val="26344E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9357055" y="3493008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9521647" y="3721608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9686239" y="3584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100" dirty="0"/>
          </a:p>
        </p:txBody>
      </p:sp>
      <p:sp>
        <p:nvSpPr>
          <p:cNvPr id="54" name="Shape 47"/>
          <p:cNvSpPr/>
          <p:nvPr/>
        </p:nvSpPr>
        <p:spPr>
          <a:xfrm>
            <a:off x="9521647" y="4142232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55" name="Text 48"/>
          <p:cNvSpPr txBox="1"/>
          <p:nvPr/>
        </p:nvSpPr>
        <p:spPr>
          <a:xfrm>
            <a:off x="9686239" y="40050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</a:t>
            </a:r>
            <a:endParaRPr lang="en-US" sz="1100" dirty="0"/>
          </a:p>
        </p:txBody>
      </p:sp>
      <p:sp>
        <p:nvSpPr>
          <p:cNvPr id="56" name="Shape 49"/>
          <p:cNvSpPr/>
          <p:nvPr/>
        </p:nvSpPr>
        <p:spPr>
          <a:xfrm>
            <a:off x="9521647" y="4562856"/>
            <a:ext cx="82296" cy="82296"/>
          </a:xfrm>
          <a:prstGeom prst="ellipse">
            <a:avLst/>
          </a:prstGeom>
          <a:solidFill>
            <a:srgbClr val="2FE6A8"/>
          </a:solidFill>
          <a:ln/>
        </p:spPr>
      </p:sp>
      <p:sp>
        <p:nvSpPr>
          <p:cNvPr id="57" name="Text 50"/>
          <p:cNvSpPr txBox="1"/>
          <p:nvPr/>
        </p:nvSpPr>
        <p:spPr>
          <a:xfrm>
            <a:off x="9686239" y="442569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</a:t>
            </a:r>
            <a:endParaRPr lang="en-US" sz="1100" dirty="0"/>
          </a:p>
        </p:txBody>
      </p:sp>
      <p:sp>
        <p:nvSpPr>
          <p:cNvPr id="58" name="Text 51"/>
          <p:cNvSpPr txBox="1"/>
          <p:nvPr/>
        </p:nvSpPr>
        <p:spPr>
          <a:xfrm>
            <a:off x="502920" y="60807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shown above are PROPOSED / PLANNED for progressive implementation across the project timeline.</a:t>
            </a:r>
            <a:endParaRPr lang="en-US" sz="1150" dirty="0"/>
          </a:p>
        </p:txBody>
      </p:sp>
      <p:sp>
        <p:nvSpPr>
          <p:cNvPr id="59" name="Text 52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CampusShell  |  Review 1 — Project Title Identification</a:t>
            </a:r>
            <a:endParaRPr lang="en-US" sz="900" dirty="0"/>
          </a:p>
        </p:txBody>
      </p:sp>
      <p:sp>
        <p:nvSpPr>
          <p:cNvPr id="60" name="Text 53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Development Roadmap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" y="1481328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16152" y="1426464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216152" y="170078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REPL, repository, Makefile, C memory fundamentals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02920" y="2267712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" y="2377440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16152" y="2322576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Parsing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216152" y="259689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Tokenizer, parser, pipeline representation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02920" y="3163824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" y="3273552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16152" y="3218688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Process Control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216152" y="349300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fork(), exec(), wait(), PATH, built-ins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502920" y="4059936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" y="4169664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216152" y="411480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Signals &amp; Pipes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216152" y="438912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Ctrl-C handling, SIGCHLD, pipes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233008" y="1371600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1024" y="1481328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61024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946240" y="1426464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Memory &amp; Monitoring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946240" y="170078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memory, memory validation, system monitoring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6233008" y="2267712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61024" y="2377440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6102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946240" y="2322576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I/O &amp; Concurrency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6946240" y="259689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redirection, concurrency, job control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6233008" y="3163824"/>
            <a:ext cx="5455768" cy="768096"/>
          </a:xfrm>
          <a:prstGeom prst="roundRect">
            <a:avLst>
              <a:gd name="adj" fmla="val 8333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61024" y="3273552"/>
            <a:ext cx="457200" cy="457200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61024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46240" y="3218688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Polish &amp; Release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6946240" y="349300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documentation, hosting, final polish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233008" y="4169664"/>
            <a:ext cx="5455768" cy="905256"/>
          </a:xfrm>
          <a:prstGeom prst="roundRect">
            <a:avLst>
              <a:gd name="adj" fmla="val 7071"/>
            </a:avLst>
          </a:prstGeom>
          <a:solidFill>
            <a:srgbClr val="0F2A24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15888" y="4169664"/>
            <a:ext cx="509000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will evolve progressively from a basic command interpreter into a feature-rich mini Unix-like operating environment.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CampusShell  |  Review 1 — Project Title Identification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8233A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3" name="Image 0" descr="/home/claude/campusshell/icon_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362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357055" y="566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1C8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· PLANNED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121A2B"/>
          </a:solidFill>
          <a:ln w="12700">
            <a:solidFill>
              <a:srgbClr val="26344E"/>
            </a:solidFill>
            <a:prstDash val="solid"/>
          </a:ln>
        </p:spPr>
      </p:sp>
      <p:pic>
        <p:nvPicPr>
          <p:cNvPr id="7" name="Image 1" descr="/home/claude/campusshell/icon_check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1907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1600200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mini Unix-like command-line environment.</a:t>
            </a:r>
            <a:endParaRPr lang="en-US" sz="1350" dirty="0"/>
          </a:p>
        </p:txBody>
      </p:sp>
      <p:pic>
        <p:nvPicPr>
          <p:cNvPr id="9" name="Image 2" descr="/home/claude/campusshell/icon_check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97280" y="2350008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demonstration of core Operating System concepts.</a:t>
            </a:r>
            <a:endParaRPr lang="en-US" sz="1350" dirty="0"/>
          </a:p>
        </p:txBody>
      </p:sp>
      <p:pic>
        <p:nvPicPr>
          <p:cNvPr id="11" name="Image 3" descr="/home/claude/campusshell/icon_check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1868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97280" y="3099816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and extensible system architecture.</a:t>
            </a:r>
            <a:endParaRPr lang="en-US" sz="1350" dirty="0"/>
          </a:p>
        </p:txBody>
      </p:sp>
      <p:pic>
        <p:nvPicPr>
          <p:cNvPr id="13" name="Image 4" descr="/home/claude/campusshell/icon_check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68496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97280" y="3849624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processes, memory, files, signals, and concurrency.</a:t>
            </a:r>
            <a:endParaRPr lang="en-US" sz="1350" dirty="0"/>
          </a:p>
        </p:txBody>
      </p:sp>
      <p:pic>
        <p:nvPicPr>
          <p:cNvPr id="15" name="Image 5" descr="/home/claude/campusshell/icon_checksqu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718304"/>
            <a:ext cx="237744" cy="2377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97280" y="4599432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future enhancements in shell and systems programming.</a:t>
            </a:r>
            <a:endParaRPr lang="en-US" sz="1350" dirty="0"/>
          </a:p>
        </p:txBody>
      </p:sp>
      <p:sp>
        <p:nvSpPr>
          <p:cNvPr id="17" name="Shape 9"/>
          <p:cNvSpPr/>
          <p:nvPr/>
        </p:nvSpPr>
        <p:spPr>
          <a:xfrm>
            <a:off x="7178040" y="1417320"/>
            <a:ext cx="4510735" cy="4160520"/>
          </a:xfrm>
          <a:prstGeom prst="roundRect">
            <a:avLst>
              <a:gd name="adj" fmla="val 2198"/>
            </a:avLst>
          </a:prstGeom>
          <a:solidFill>
            <a:srgbClr val="0F2A24"/>
          </a:solidFill>
          <a:ln w="15875">
            <a:solidFill>
              <a:srgbClr val="2FE6A8"/>
            </a:solidFill>
            <a:prstDash val="solid"/>
          </a:ln>
        </p:spPr>
      </p:sp>
      <p:pic>
        <p:nvPicPr>
          <p:cNvPr id="18" name="Image 6" descr="/home/claude/campusshell/icon_aw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1737360"/>
            <a:ext cx="365760" cy="36576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955280" y="176479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20" name="Text 11"/>
          <p:cNvSpPr txBox="1"/>
          <p:nvPr/>
        </p:nvSpPr>
        <p:spPr>
          <a:xfrm>
            <a:off x="7498080" y="2377440"/>
            <a:ext cx="38706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“CampusShell aims to transform Operating System concepts into an interactive, hands-on mini environment.”</a:t>
            </a:r>
            <a:endParaRPr lang="en-US" sz="1500" dirty="0"/>
          </a:p>
        </p:txBody>
      </p:sp>
      <p:sp>
        <p:nvSpPr>
          <p:cNvPr id="21" name="Shape 12"/>
          <p:cNvSpPr/>
          <p:nvPr/>
        </p:nvSpPr>
        <p:spPr>
          <a:xfrm>
            <a:off x="7498080" y="4480560"/>
            <a:ext cx="3870655" cy="0"/>
          </a:xfrm>
          <a:prstGeom prst="line">
            <a:avLst/>
          </a:prstGeom>
          <a:noFill/>
          <a:ln w="12700">
            <a:solidFill>
              <a:srgbClr val="1C8F73"/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7498080" y="4663440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3" name="Text 1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CampusShell  |  Review 1 — Project Title Identification</a:t>
            </a:r>
            <a:endParaRPr lang="en-US" sz="900" dirty="0"/>
          </a:p>
        </p:txBody>
      </p:sp>
      <p:sp>
        <p:nvSpPr>
          <p:cNvPr id="24" name="Text 1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2026-09-12T07:52:28Z</dcterms:created>
  <dcterms:modified xsi:type="dcterms:W3CDTF">2026-09-12T07:52:28Z</dcterms:modified>
</cp:coreProperties>
</file>
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 will present EduShell, a mini Unix-like shell I built in C on Ubuntu/WSL. The professor asked for four specific sections: Novelty, Adaptability, Methodology Evaluation, and Dissemination and Accessibility. I will walk through each, then close with a short conclusion. EduShell implements a full command pipeline: lexer, parser, executor, job control, signal handling, and a custom memory monitor called memstat, all organized in a modular src/include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novelty here is that EduShell is not a wrapper around system() calls — I implemented the full pipeline myself: lexer.c tokenizes raw input, parser.c builds a command structure, and executor.c runs it. On top of that, job control (jobs.c, signals.c) and a custom memstat virtual memory monitor (memstat.c, monitor.c) are built in as first-class features, not add-ons. The modular src/include split with a matching header for every source file is also a deliberate design choice — each module can be explained, tested, and read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Adaptability comes from the clean separation between modules. Because builtins.c/.h is isolated, I can add a new built-in command without touching the parser or executor. The vec.c dynamic-array utility is reused across the lexer, parser, and jobs modules, so new features do not require reinventing data structures. Since EduShell depends only on standard POSIX calls (fork, exec, pipe, signal), it runs unmodified on native Ubuntu and on Windows through WSL — that portability is a direct result of the methodology, not an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evaluation, I tested EduShell against the core Unix shell behaviors it claims to support: basic execution, pipes, redirection, background jobs, job listing, signal-based suspension with Ctrl+Z, and the custom memstat monitor. Each test used a representative command shown in the table, and all seven passed their expected behavior on Ubuntu/WSL. The evaluation was functional/behavioral testing — running each feature and manually verifying output against expected shell semantics, since EduShell is a systems tool rather than a data-driven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dissemination, the project's src/include structure is already organized the way an open-source C project would be, so it can be pushed to GitHub and built with a single gcc/make command — no special packaging needed. Because every module has its own header file, another student or reviewer can read just builtins.h or jobs.h to understand that piece without reading the entire codebase. It also runs on both native Ubuntu and WSL, so accessibility is not limited to one setup. Longer term, this structure makes EduShell reusable as a teaching example for Operating Systems or Systems Programming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EduShell is a self-contained, modular Unix-like shell built entirely in C, covering the full pipeline from lexing to execution, job control, signal handling, and a custom memory monitor. The modular structure is what ties all four required sections together — it is the source of the novelty, the reason it is adaptable, the reason it was straightforward to evaluate feature-by-feature, and the reason it can be shared and reused. Thank you — I am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algn="l" indent="0" marL="0">
              <a:buNone/>
            </a:pPr>
            <a:r>
              <a:rPr lang="en-US" sz="1300" dirty="0">
                <a:solidFill>
                  <a:srgbClr val="1B2430"/>
                </a:solidFill>
                <a:latin typeface="Courier New" pitchFamily="34" charset="0"/>
                <a:ea typeface="Courier New" pitchFamily="34" charset="-122"/>
                <a:cs typeface="Courier New" pitchFamily="34" charset="-120"/>
              </a:rPr>
              <a:t>$ gcc -o edushell src/*.c -Iinclude</a:t>
            </a:r>
            <a:endParaRPr lang="en-US" sz="1300" dirty="0"/>
          </a:p>
        </p:txBody>
      </p:sp>
      <p:sp>
        <p:nvSpPr>
          <p:cNvPr id="3" name="Text 1"/>
          <p:cNvSpPr/>
          <p:nvPr/>
        </p:nvSpPr>
        <p:spPr>
          <a:xfrm>
            <a:off x="548640" y="1600200"/>
            <a:ext cx="7315200" cy="365760"/>
          </a:xfrm>
          <a:prstGeom prst="rect">
            <a:avLst/>
          </a:prstGeom>
          <a:noFill/>
          <a:ln/>
        </p:spPr>
        <p:txBody>
          <a:bodyPr wrap="square" lIns="0" tIns="0" rIns="0" bIns="0" rtlCol="0" anchor="ctr"/>
          <a:lstStyle/>
          <a:p>
            <a:pPr algn="l" indent="0" marL="0">
              <a:buNone/>
            </a:pPr>
            <a:r>
              <a:rPr lang="en-US" sz="1300" dirty="0">
                <a:solidFill>
                  <a:srgbClr val="1B2430"/>
                </a:solidFill>
                <a:latin typeface="Courier New" pitchFamily="34" charset="0"/>
                <a:ea typeface="Courier New" pitchFamily="34" charset="-122"/>
                <a:cs typeface="Courier New" pitchFamily="34" charset="-120"/>
              </a:rPr>
              <a:t>$ ./EduShell</a:t>
            </a:r>
            <a:endParaRPr lang="en-US" sz="1300" dirty="0"/>
          </a:p>
        </p:txBody>
      </p:sp>
      <p:sp>
        <p:nvSpPr>
          <p:cNvPr id="4" name="Text 2"/>
          <p:cNvSpPr/>
          <p:nvPr/>
        </p:nvSpPr>
        <p:spPr>
          <a:xfrm>
            <a:off x="548640" y="2743200"/>
            <a:ext cx="7315200" cy="365760"/>
          </a:xfrm>
          <a:prstGeom prst="rect">
            <a:avLst/>
          </a:prstGeom>
          <a:noFill/>
          <a:ln/>
        </p:spPr>
        <p:txBody>
          <a:bodyPr wrap="square" lIns="0" tIns="0" rIns="0" bIns="0" rtlCol="0" anchor="ctr"/>
          <a:lstStyle/>
          <a:p>
            <a:pPr algn="l" indent="0" marL="0">
              <a:buNone/>
            </a:pPr>
            <a:r>
              <a:rPr lang="en-US" sz="1300" dirty="0">
                <a:solidFill>
                  <a:srgbClr val="1B2430"/>
                </a:solidFill>
                <a:latin typeface="Courier New" pitchFamily="34" charset="0"/>
                <a:ea typeface="Courier New" pitchFamily="34" charset="-122"/>
                <a:cs typeface="Courier New" pitchFamily="34" charset="-120"/>
              </a:rPr>
              <a:t>edushell&gt; ls -la | grep .c</a:t>
            </a:r>
            <a:endParaRPr lang="en-US" sz="1300" dirty="0"/>
          </a:p>
        </p:txBody>
      </p:sp>
      <p:sp>
        <p:nvSpPr>
          <p:cNvPr id="5" name="Text 3"/>
          <p:cNvSpPr/>
          <p:nvPr/>
        </p:nvSpPr>
        <p:spPr>
          <a:xfrm>
            <a:off x="548640" y="3886200"/>
            <a:ext cx="7315200" cy="365760"/>
          </a:xfrm>
          <a:prstGeom prst="rect">
            <a:avLst/>
          </a:prstGeom>
          <a:noFill/>
          <a:ln/>
        </p:spPr>
        <p:txBody>
          <a:bodyPr wrap="square" lIns="0" tIns="0" rIns="0" bIns="0" rtlCol="0" anchor="ctr"/>
          <a:lstStyle/>
          <a:p>
            <a:pPr algn="l" indent="0" marL="0">
              <a:buNone/>
            </a:pPr>
            <a:r>
              <a:rPr lang="en-US" sz="1300" dirty="0">
                <a:solidFill>
                  <a:srgbClr val="1B2430"/>
                </a:solidFill>
                <a:latin typeface="Courier New" pitchFamily="34" charset="0"/>
                <a:ea typeface="Courier New" pitchFamily="34" charset="-122"/>
                <a:cs typeface="Courier New" pitchFamily="34" charset="-120"/>
              </a:rPr>
              <a:t>edushell&gt; jobs</a:t>
            </a:r>
            <a:endParaRPr lang="en-US" sz="1300" dirty="0"/>
          </a:p>
        </p:txBody>
      </p:sp>
      <p:sp>
        <p:nvSpPr>
          <p:cNvPr id="6" name="Text 4"/>
          <p:cNvSpPr/>
          <p:nvPr/>
        </p:nvSpPr>
        <p:spPr>
          <a:xfrm>
            <a:off x="548640" y="5029200"/>
            <a:ext cx="7315200" cy="365760"/>
          </a:xfrm>
          <a:prstGeom prst="rect">
            <a:avLst/>
          </a:prstGeom>
          <a:noFill/>
          <a:ln/>
        </p:spPr>
        <p:txBody>
          <a:bodyPr wrap="square" lIns="0" tIns="0" rIns="0" bIns="0" rtlCol="0" anchor="ctr"/>
          <a:lstStyle/>
          <a:p>
            <a:pPr algn="l" indent="0" marL="0">
              <a:buNone/>
            </a:pPr>
            <a:r>
              <a:rPr lang="en-US" sz="1300" dirty="0">
                <a:solidFill>
                  <a:srgbClr val="1B2430"/>
                </a:solidFill>
                <a:latin typeface="Courier New" pitchFamily="34" charset="0"/>
                <a:ea typeface="Courier New" pitchFamily="34" charset="-122"/>
                <a:cs typeface="Courier New" pitchFamily="34" charset="-120"/>
              </a:rPr>
              <a:t>[1]  Running   sleep 100 &amp;</a:t>
            </a:r>
            <a:endParaRPr lang="en-US" sz="1300" dirty="0"/>
          </a:p>
        </p:txBody>
      </p:sp>
      <p:sp>
        <p:nvSpPr>
          <p:cNvPr id="7" name="Shape 5"/>
          <p:cNvSpPr/>
          <p:nvPr/>
        </p:nvSpPr>
        <p:spPr>
          <a:xfrm>
            <a:off x="1280160" y="1600200"/>
            <a:ext cx="9628632" cy="3566160"/>
          </a:xfrm>
          <a:prstGeom prst="roundRect">
            <a:avLst>
              <a:gd name="adj" fmla="val 2051"/>
            </a:avLst>
          </a:prstGeom>
          <a:solidFill>
            <a:srgbClr val="161B22"/>
          </a:solidFill>
          <a:ln w="12700">
            <a:solidFill>
              <a:srgbClr val="30363D"/>
            </a:solidFill>
            <a:prstDash val="solid"/>
          </a:ln>
          <a:effectLst>
            <a:outerShdw sx="100000" sy="100000" kx="0" ky="0" algn="bl" rotWithShape="0" blurRad="152400" dist="50800" dir="5400000">
              <a:srgbClr val="000000">
                <a:alpha val="50000"/>
              </a:srgbClr>
            </a:outerShdw>
          </a:effectLst>
        </p:spPr>
        <p:txBody>
          <a:bodyPr/>
          <a:p/>
        </p:txBody>
      </p:sp>
      <p:sp>
        <p:nvSpPr>
          <p:cNvPr id="8" name="Shape 6"/>
          <p:cNvSpPr/>
          <p:nvPr/>
        </p:nvSpPr>
        <p:spPr>
          <a:xfrm>
            <a:off x="1280160" y="1600200"/>
            <a:ext cx="9628632" cy="292608"/>
          </a:xfrm>
          <a:prstGeom prst="roundRect">
            <a:avLst>
              <a:gd name="adj" fmla="val 18750"/>
            </a:avLst>
          </a:prstGeom>
          <a:solidFill>
            <a:srgbClr val="0B0F14"/>
          </a:solidFill>
          <a:ln/>
        </p:spPr>
        <p:txBody>
          <a:bodyPr/>
          <a:p/>
        </p:txBody>
      </p:sp>
      <p:sp>
        <p:nvSpPr>
          <p:cNvPr id="9" name="Shape 7"/>
          <p:cNvSpPr/>
          <p:nvPr/>
        </p:nvSpPr>
        <p:spPr>
          <a:xfrm>
            <a:off x="1389888" y="1691640"/>
            <a:ext cx="109728" cy="109728"/>
          </a:xfrm>
          <a:prstGeom prst="ellipse">
            <a:avLst/>
          </a:prstGeom>
          <a:solidFill>
            <a:srgbClr val="F85149"/>
          </a:solidFill>
          <a:ln/>
        </p:spPr>
        <p:txBody>
          <a:bodyPr/>
          <a:p/>
        </p:txBody>
      </p:sp>
      <p:sp>
        <p:nvSpPr>
          <p:cNvPr id="10" name="Shape 8"/>
          <p:cNvSpPr/>
          <p:nvPr/>
        </p:nvSpPr>
        <p:spPr>
          <a:xfrm>
            <a:off x="1554480" y="1691640"/>
            <a:ext cx="109728" cy="109728"/>
          </a:xfrm>
          <a:prstGeom prst="ellipse">
            <a:avLst/>
          </a:prstGeom>
          <a:solidFill>
            <a:srgbClr val="E3B341"/>
          </a:solidFill>
          <a:ln/>
        </p:spPr>
        <p:txBody>
          <a:bodyPr/>
          <a:p/>
        </p:txBody>
      </p:sp>
      <p:sp>
        <p:nvSpPr>
          <p:cNvPr id="11" name="Shape 9"/>
          <p:cNvSpPr/>
          <p:nvPr/>
        </p:nvSpPr>
        <p:spPr>
          <a:xfrm>
            <a:off x="1719072" y="1691640"/>
            <a:ext cx="109728" cy="109728"/>
          </a:xfrm>
          <a:prstGeom prst="ellipse">
            <a:avLst/>
          </a:prstGeom>
          <a:solidFill>
            <a:srgbClr val="39D353"/>
          </a:solidFill>
          <a:ln/>
        </p:spPr>
        <p:txBody>
          <a:bodyPr/>
          <a:p/>
        </p:txBody>
      </p:sp>
      <p:sp>
        <p:nvSpPr>
          <p:cNvPr id="12" name="Text 10"/>
          <p:cNvSpPr/>
          <p:nvPr/>
        </p:nvSpPr>
        <p:spPr>
          <a:xfrm>
            <a:off x="1828800" y="1581912"/>
            <a:ext cx="8897112" cy="329184"/>
          </a:xfrm>
          <a:prstGeom prst="rect">
            <a:avLst/>
          </a:prstGeom>
          <a:noFill/>
          <a:ln/>
        </p:spPr>
        <p:txBody>
          <a:bodyPr wrap="square" lIns="0" tIns="0" rIns="0" bIns="0" rtlCol="0" anchor="ctr"/>
          <a:lstStyle/>
          <a:p>
            <a:pPr algn="l" indent="0" marL="0">
              <a:buNone/>
            </a:pPr>
            <a:r>
              <a:rPr lang="en-US" sz="1000" dirty="0">
                <a:solidFill>
                  <a:srgbClr val="8B949E"/>
                </a:solidFill>
                <a:latin typeface="Courier New" pitchFamily="34" charset="0"/>
                <a:ea typeface="Courier New" pitchFamily="34" charset="-122"/>
                <a:cs typeface="Courier New" pitchFamily="34" charset="-120"/>
              </a:rPr>
              <a:t>edushell — bash — 80x24</a:t>
            </a:r>
            <a:endParaRPr lang="en-US" sz="1000" dirty="0"/>
          </a:p>
        </p:txBody>
      </p:sp>
      <p:sp>
        <p:nvSpPr>
          <p:cNvPr id="13" name="Text 11"/>
          <p:cNvSpPr/>
          <p:nvPr/>
        </p:nvSpPr>
        <p:spPr>
          <a:xfrm>
            <a:off x="1645920" y="2194560"/>
            <a:ext cx="8897112" cy="365760"/>
          </a:xfrm>
          <a:prstGeom prst="rect">
            <a:avLst/>
          </a:prstGeom>
          <a:noFill/>
          <a:ln/>
        </p:spPr>
        <p:txBody>
          <a:bodyPr wrap="square" lIns="0" tIns="0" rIns="0" bIns="0" rtlCol="0" anchor="ctr"/>
          <a:lstStyle/>
          <a:p>
            <a:pPr algn="l" indent="0" marL="0">
              <a:buNone/>
            </a:pPr>
            <a:r>
              <a:rPr lang="en-US" sz="1400" b="1" dirty="0">
                <a:solidFill>
                  <a:srgbClr val="39D353"/>
                </a:solidFill>
                <a:latin typeface="Courier New" pitchFamily="34" charset="0"/>
                <a:ea typeface="Courier New" pitchFamily="34" charset="-122"/>
                <a:cs typeface="Courier New" pitchFamily="34" charset="-120"/>
              </a:rPr>
              <a:t>edushell</a:t>
            </a:r>
            <a:pPr algn="l" indent="0" marL="0">
              <a:buNone/>
            </a:pPr>
            <a:r>
              <a:rPr lang="en-US" sz="1400" dirty="0">
                <a:solidFill>
                  <a:srgbClr val="8B949E"/>
                </a:solidFill>
                <a:latin typeface="Courier New" pitchFamily="34" charset="0"/>
                <a:ea typeface="Courier New" pitchFamily="34" charset="-122"/>
                <a:cs typeface="Courier New" pitchFamily="34" charset="-120"/>
              </a:rPr>
              <a:t>$ </a:t>
            </a:r>
            <a:pPr algn="l" indent="0" marL="0">
              <a:buNone/>
            </a:pPr>
            <a:r>
              <a:rPr lang="en-US" sz="1400" dirty="0">
                <a:solidFill>
                  <a:srgbClr val="E6EDF3"/>
                </a:solidFill>
                <a:latin typeface="Courier New" pitchFamily="34" charset="0"/>
                <a:ea typeface="Courier New" pitchFamily="34" charset="-122"/>
                <a:cs typeface="Courier New" pitchFamily="34" charset="-120"/>
              </a:rPr>
              <a:t>run --project</a:t>
            </a:r>
            <a:endParaRPr lang="en-US" sz="1400" dirty="0"/>
          </a:p>
        </p:txBody>
      </p:sp>
      <p:sp>
        <p:nvSpPr>
          <p:cNvPr id="14" name="Text 12"/>
          <p:cNvSpPr/>
          <p:nvPr/>
        </p:nvSpPr>
        <p:spPr>
          <a:xfrm>
            <a:off x="1600200" y="2651760"/>
            <a:ext cx="8988552" cy="914400"/>
          </a:xfrm>
          <a:prstGeom prst="rect">
            <a:avLst/>
          </a:prstGeom>
          <a:noFill/>
          <a:ln/>
        </p:spPr>
        <p:txBody>
          <a:bodyPr wrap="square" lIns="0" tIns="0" rIns="0" bIns="0" rtlCol="0" anchor="ctr"/>
          <a:lstStyle/>
          <a:p>
            <a:pPr algn="l" indent="0" marL="0">
              <a:buNone/>
            </a:pPr>
            <a:r>
              <a:rPr lang="en-US" sz="4800" b="1" dirty="0">
                <a:solidFill>
                  <a:srgbClr val="FFFFFF"/>
                </a:solidFill>
                <a:latin typeface="Courier New" pitchFamily="34" charset="0"/>
                <a:ea typeface="Courier New" pitchFamily="34" charset="-122"/>
                <a:cs typeface="Courier New" pitchFamily="34" charset="-120"/>
              </a:rPr>
              <a:t>EduShell</a:t>
            </a:r>
            <a:endParaRPr lang="en-US" sz="4800" dirty="0"/>
          </a:p>
        </p:txBody>
      </p:sp>
      <p:sp>
        <p:nvSpPr>
          <p:cNvPr id="15" name="Text 13"/>
          <p:cNvSpPr/>
          <p:nvPr/>
        </p:nvSpPr>
        <p:spPr>
          <a:xfrm>
            <a:off x="1645920" y="3474720"/>
            <a:ext cx="8897112" cy="457200"/>
          </a:xfrm>
          <a:prstGeom prst="rect">
            <a:avLst/>
          </a:prstGeom>
          <a:noFill/>
          <a:ln/>
        </p:spPr>
        <p:txBody>
          <a:bodyPr wrap="square" lIns="0" tIns="0" rIns="0" bIns="0" rtlCol="0" anchor="ctr"/>
          <a:lstStyle/>
          <a:p>
            <a:pPr algn="l" indent="0" marL="0">
              <a:buNone/>
            </a:pPr>
            <a:r>
              <a:rPr lang="en-US" sz="2000" dirty="0">
                <a:solidFill>
                  <a:srgbClr val="39D353"/>
                </a:solidFill>
                <a:latin typeface="Calibri" pitchFamily="34" charset="0"/>
                <a:ea typeface="Calibri" pitchFamily="34" charset="-122"/>
                <a:cs typeface="Calibri" pitchFamily="34" charset="-120"/>
              </a:rPr>
              <a:t>A Mini Unix-Like Shell</a:t>
            </a:r>
            <a:endParaRPr lang="en-US" sz="2000" dirty="0"/>
          </a:p>
        </p:txBody>
      </p:sp>
      <p:sp>
        <p:nvSpPr>
          <p:cNvPr id="16" name="Text 14"/>
          <p:cNvSpPr/>
          <p:nvPr/>
        </p:nvSpPr>
        <p:spPr>
          <a:xfrm>
            <a:off x="1645920" y="3977640"/>
            <a:ext cx="8897112" cy="365760"/>
          </a:xfrm>
          <a:prstGeom prst="rect">
            <a:avLst/>
          </a:prstGeom>
          <a:noFill/>
          <a:ln/>
        </p:spPr>
        <p:txBody>
          <a:bodyPr wrap="square" lIns="0" tIns="0" rIns="0" bIns="0" rtlCol="0" anchor="ctr"/>
          <a:lstStyle/>
          <a:p>
            <a:pPr algn="l" indent="0" marL="0">
              <a:buNone/>
            </a:pPr>
            <a:r>
              <a:rPr lang="en-US" sz="1300" dirty="0">
                <a:solidFill>
                  <a:srgbClr val="8B949E"/>
                </a:solidFill>
                <a:latin typeface="Calibri" pitchFamily="34" charset="0"/>
                <a:ea typeface="Calibri" pitchFamily="34" charset="-122"/>
                <a:cs typeface="Calibri" pitchFamily="34" charset="-120"/>
              </a:rPr>
              <a:t>Implemented and tested in C  ·  Ubuntu / WSL  ·  Modular Systems Project</a:t>
            </a:r>
            <a:endParaRPr lang="en-US" sz="1300" dirty="0"/>
          </a:p>
        </p:txBody>
      </p:sp>
      <p:sp>
        <p:nvSpPr>
          <p:cNvPr id="17" name="Text 15"/>
          <p:cNvSpPr/>
          <p:nvPr/>
        </p:nvSpPr>
        <p:spPr>
          <a:xfrm>
            <a:off x="1280160" y="5623560"/>
            <a:ext cx="9628632" cy="320040"/>
          </a:xfrm>
          <a:prstGeom prst="rect">
            <a:avLst/>
          </a:prstGeom>
          <a:noFill/>
          <a:ln/>
        </p:spPr>
        <p:txBody>
          <a:bodyPr wrap="square" lIns="0" tIns="0" rIns="0" bIns="0" rtlCol="0" anchor="ctr"/>
          <a:lstStyle/>
          <a:p>
            <a:pPr algn="ctr" indent="0" marL="0">
              <a:buNone/>
            </a:pPr>
            <a:r>
              <a:rPr lang="en-US" sz="1100" dirty="0">
                <a:solidFill>
                  <a:srgbClr val="8B949E"/>
                </a:solidFill>
                <a:latin typeface="Courier New" pitchFamily="34" charset="0"/>
                <a:ea typeface="Courier New" pitchFamily="34" charset="-122"/>
                <a:cs typeface="Courier New" pitchFamily="34" charset="-120"/>
              </a:rPr>
              <a:t>Academic Presentation  |  Course Project Review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384048"/>
            <a:ext cx="1097280" cy="731520"/>
          </a:xfrm>
          <a:prstGeom prst="rect">
            <a:avLst/>
          </a:prstGeom>
          <a:noFill/>
          <a:ln/>
        </p:spPr>
        <p:txBody>
          <a:bodyPr wrap="square" lIns="0" tIns="0" rIns="0" bIns="0" rtlCol="0" anchor="ctr"/>
          <a:lstStyle/>
          <a:p>
            <a:pPr indent="0" marL="0">
              <a:buNone/>
            </a:pPr>
            <a:r>
              <a:rPr lang="en-US" sz="3400" b="1" dirty="0">
                <a:solidFill>
                  <a:srgbClr val="D8DEE6"/>
                </a:solidFill>
                <a:latin typeface="Courier New" pitchFamily="34" charset="0"/>
                <a:ea typeface="Courier New" pitchFamily="34" charset="-122"/>
                <a:cs typeface="Courier New" pitchFamily="34" charset="-120"/>
              </a:rPr>
              <a:t>01</a:t>
            </a:r>
            <a:endParaRPr lang="en-US" sz="3400" dirty="0"/>
          </a:p>
        </p:txBody>
      </p:sp>
      <p:sp>
        <p:nvSpPr>
          <p:cNvPr id="3" name="Text 1"/>
          <p:cNvSpPr/>
          <p:nvPr/>
        </p:nvSpPr>
        <p:spPr>
          <a:xfrm>
            <a:off x="1371600" y="457200"/>
            <a:ext cx="8686800" cy="548640"/>
          </a:xfrm>
          <a:prstGeom prst="rect">
            <a:avLst/>
          </a:prstGeom>
          <a:noFill/>
          <a:ln/>
        </p:spPr>
        <p:txBody>
          <a:bodyPr wrap="square" lIns="0" tIns="0" rIns="0" bIns="0" rtlCol="0" anchor="ctr"/>
          <a:lstStyle/>
          <a:p>
            <a:pPr indent="0" marL="0">
              <a:buNone/>
            </a:pPr>
            <a:r>
              <a:rPr lang="en-US" sz="2800" b="1" dirty="0">
                <a:solidFill>
                  <a:srgbClr val="10151C"/>
                </a:solidFill>
                <a:latin typeface="Courier New" pitchFamily="34" charset="0"/>
                <a:ea typeface="Courier New" pitchFamily="34" charset="-122"/>
                <a:cs typeface="Courier New" pitchFamily="34" charset="-120"/>
              </a:rPr>
              <a:t>Novelty of Developed Methodology</a:t>
            </a:r>
            <a:endParaRPr lang="en-US" sz="2800" dirty="0"/>
          </a:p>
        </p:txBody>
      </p:sp>
      <p:sp>
        <p:nvSpPr>
          <p:cNvPr id="4" name="Text 2"/>
          <p:cNvSpPr/>
          <p:nvPr/>
        </p:nvSpPr>
        <p:spPr>
          <a:xfrm>
            <a:off x="1371600" y="932688"/>
            <a:ext cx="8686800" cy="320040"/>
          </a:xfrm>
          <a:prstGeom prst="rect">
            <a:avLst/>
          </a:prstGeom>
          <a:noFill/>
          <a:ln/>
        </p:spPr>
        <p:txBody>
          <a:bodyPr wrap="square" lIns="0" tIns="0" rIns="0" bIns="0" rtlCol="0" anchor="ctr"/>
          <a:lstStyle/>
          <a:p>
            <a:pPr indent="0" marL="0">
              <a:buNone/>
            </a:pPr>
            <a:r>
              <a:rPr lang="en-US" sz="1300" i="1" dirty="0">
                <a:solidFill>
                  <a:srgbClr val="586573"/>
                </a:solidFill>
                <a:latin typeface="Calibri" pitchFamily="34" charset="0"/>
                <a:ea typeface="Calibri" pitchFamily="34" charset="-122"/>
                <a:cs typeface="Calibri" pitchFamily="34" charset="-120"/>
              </a:rPr>
              <a:t>What makes EduShell's build approach distinct</a:t>
            </a:r>
            <a:endParaRPr lang="en-US" sz="1300" dirty="0"/>
          </a:p>
        </p:txBody>
      </p:sp>
      <p:sp>
        <p:nvSpPr>
          <p:cNvPr id="5" name="Text 3"/>
          <p:cNvSpPr/>
          <p:nvPr/>
        </p:nvSpPr>
        <p:spPr>
          <a:xfrm>
            <a:off x="10561320" y="292608"/>
            <a:ext cx="1371600" cy="274320"/>
          </a:xfrm>
          <a:prstGeom prst="rect">
            <a:avLst/>
          </a:prstGeom>
          <a:noFill/>
          <a:ln/>
        </p:spPr>
        <p:txBody>
          <a:bodyPr wrap="square" lIns="0" tIns="0" rIns="0" bIns="0" rtlCol="0" anchor="ctr"/>
          <a:lstStyle/>
          <a:p>
            <a:pPr algn="r" indent="0" marL="0">
              <a:buNone/>
            </a:pPr>
            <a:r>
              <a:rPr lang="en-US" sz="1100" dirty="0">
                <a:solidFill>
                  <a:srgbClr val="8B949E"/>
                </a:solidFill>
                <a:latin typeface="Courier New" pitchFamily="34" charset="0"/>
                <a:ea typeface="Courier New" pitchFamily="34" charset="-122"/>
                <a:cs typeface="Courier New" pitchFamily="34" charset="-120"/>
              </a:rPr>
              <a:t>[ 02 / 06 ]</a:t>
            </a:r>
            <a:endParaRPr lang="en-US" sz="1100" dirty="0"/>
          </a:p>
        </p:txBody>
      </p:sp>
      <p:sp>
        <p:nvSpPr>
          <p:cNvPr id="6" name="Shape 4"/>
          <p:cNvSpPr/>
          <p:nvPr/>
        </p:nvSpPr>
        <p:spPr>
          <a:xfrm>
            <a:off x="457200" y="1554480"/>
            <a:ext cx="5074920" cy="2148840"/>
          </a:xfrm>
          <a:prstGeom prst="roundRect">
            <a:avLst>
              <a:gd name="adj" fmla="val 3404"/>
            </a:avLst>
          </a:prstGeom>
          <a:solidFill>
            <a:srgbClr val="FFFFFF"/>
          </a:solidFill>
          <a:ln w="12700">
            <a:solidFill>
              <a:srgbClr val="E1E6EB"/>
            </a:solidFill>
            <a:prstDash val="solid"/>
          </a:ln>
          <a:effectLst>
            <a:outerShdw sx="100000" sy="100000" kx="0" ky="0" algn="bl" rotWithShape="0" blurRad="101600" dist="25400" dir="5400000">
              <a:srgbClr val="1B2430">
                <a:alpha val="12000"/>
              </a:srgbClr>
            </a:outerShdw>
          </a:effectLst>
        </p:spPr>
        <p:txBody>
          <a:bodyPr/>
          <a:p/>
        </p:txBody>
      </p:sp>
      <p:sp>
        <p:nvSpPr>
          <p:cNvPr id="7" name="Shape 5"/>
          <p:cNvSpPr/>
          <p:nvPr/>
        </p:nvSpPr>
        <p:spPr>
          <a:xfrm>
            <a:off x="731520" y="1828800"/>
            <a:ext cx="502920" cy="502920"/>
          </a:xfrm>
          <a:prstGeom prst="ellipse">
            <a:avLst/>
          </a:prstGeom>
          <a:solidFill>
            <a:srgbClr val="EEF2F5"/>
          </a:solidFill>
          <a:ln w="19050">
            <a:solidFill>
              <a:srgbClr val="2EA043"/>
            </a:solidFill>
            <a:prstDash val="solid"/>
          </a:ln>
        </p:spPr>
        <p:txBody>
          <a:bodyPr/>
          <a:p/>
        </p:txBody>
      </p:sp>
      <p:sp>
        <p:nvSpPr>
          <p:cNvPr id="8" name="Text 6"/>
          <p:cNvSpPr/>
          <p:nvPr/>
        </p:nvSpPr>
        <p:spPr>
          <a:xfrm>
            <a:off x="731520" y="1828800"/>
            <a:ext cx="502920" cy="502920"/>
          </a:xfrm>
          <a:prstGeom prst="rect">
            <a:avLst/>
          </a:prstGeom>
          <a:noFill/>
          <a:ln/>
        </p:spPr>
        <p:txBody>
          <a:bodyPr wrap="square" lIns="0" tIns="0" rIns="0" bIns="0" rtlCol="0" anchor="ctr"/>
          <a:lstStyle/>
          <a:p>
            <a:pPr algn="ctr" indent="0" marL="0">
              <a:buNone/>
            </a:pPr>
            <a:r>
              <a:rPr lang="en-US" sz="1800" b="1" dirty="0">
                <a:solidFill>
                  <a:srgbClr val="2EA043"/>
                </a:solidFill>
                <a:latin typeface="Courier New" pitchFamily="34" charset="0"/>
                <a:ea typeface="Courier New" pitchFamily="34" charset="-122"/>
                <a:cs typeface="Courier New" pitchFamily="34" charset="-120"/>
              </a:rPr>
              <a:t>A</a:t>
            </a:r>
            <a:endParaRPr lang="en-US" sz="1800" dirty="0"/>
          </a:p>
        </p:txBody>
      </p:sp>
      <p:sp>
        <p:nvSpPr>
          <p:cNvPr id="9" name="Text 7"/>
          <p:cNvSpPr/>
          <p:nvPr/>
        </p:nvSpPr>
        <p:spPr>
          <a:xfrm>
            <a:off x="1417320" y="1783080"/>
            <a:ext cx="3840480" cy="594360"/>
          </a:xfrm>
          <a:prstGeom prst="rect">
            <a:avLst/>
          </a:prstGeom>
          <a:noFill/>
          <a:ln/>
        </p:spPr>
        <p:txBody>
          <a:bodyPr wrap="square" lIns="0" tIns="0" rIns="0" bIns="0" rtlCol="0" anchor="t"/>
          <a:lstStyle/>
          <a:p>
            <a:pPr algn="l" indent="0" marL="0">
              <a:buNone/>
            </a:pPr>
            <a:r>
              <a:rPr lang="en-US" sz="1450" b="1" dirty="0">
                <a:solidFill>
                  <a:srgbClr val="10151C"/>
                </a:solidFill>
                <a:latin typeface="Calibri" pitchFamily="34" charset="0"/>
                <a:ea typeface="Calibri" pitchFamily="34" charset="-122"/>
                <a:cs typeface="Calibri" pitchFamily="34" charset="-120"/>
              </a:rPr>
              <a:t>Full pipeline built from scratch</a:t>
            </a:r>
            <a:endParaRPr lang="en-US" sz="1450" dirty="0"/>
          </a:p>
        </p:txBody>
      </p:sp>
      <p:sp>
        <p:nvSpPr>
          <p:cNvPr id="10" name="Text 8"/>
          <p:cNvSpPr/>
          <p:nvPr/>
        </p:nvSpPr>
        <p:spPr>
          <a:xfrm>
            <a:off x="731520" y="2468880"/>
            <a:ext cx="4526280" cy="1051560"/>
          </a:xfrm>
          <a:prstGeom prst="rect">
            <a:avLst/>
          </a:prstGeom>
          <a:noFill/>
          <a:ln/>
        </p:spPr>
        <p:txBody>
          <a:bodyPr wrap="square" lIns="0" tIns="0" rIns="0" bIns="0" rtlCol="0" anchor="t"/>
          <a:lstStyle/>
          <a:p>
            <a:pPr algn="l" indent="0" marL="0">
              <a:lnSpc>
                <a:spcPct val="115000"/>
              </a:lnSpc>
              <a:buNone/>
            </a:pPr>
            <a:r>
              <a:rPr lang="en-US" sz="1150" dirty="0">
                <a:solidFill>
                  <a:srgbClr val="434C56"/>
                </a:solidFill>
                <a:latin typeface="Calibri" pitchFamily="34" charset="0"/>
                <a:ea typeface="Calibri" pitchFamily="34" charset="-122"/>
                <a:cs typeface="Calibri" pitchFamily="34" charset="-120"/>
              </a:rPr>
              <a:t>Custom lexer (lexer.c) and recursive parser (parser.c) tokenize and structure commands — EduShell does not rely on an existing shell grammar library.</a:t>
            </a:r>
            <a:endParaRPr lang="en-US" sz="1150" dirty="0"/>
          </a:p>
        </p:txBody>
      </p:sp>
      <p:sp>
        <p:nvSpPr>
          <p:cNvPr id="11" name="Shape 9"/>
          <p:cNvSpPr/>
          <p:nvPr/>
        </p:nvSpPr>
        <p:spPr>
          <a:xfrm>
            <a:off x="5852160" y="1554480"/>
            <a:ext cx="5074920" cy="2148840"/>
          </a:xfrm>
          <a:prstGeom prst="roundRect">
            <a:avLst>
              <a:gd name="adj" fmla="val 3404"/>
            </a:avLst>
          </a:prstGeom>
          <a:solidFill>
            <a:srgbClr val="FFFFFF"/>
          </a:solidFill>
          <a:ln w="12700">
            <a:solidFill>
              <a:srgbClr val="E1E6EB"/>
            </a:solidFill>
            <a:prstDash val="solid"/>
          </a:ln>
          <a:effectLst>
            <a:outerShdw sx="100000" sy="100000" kx="0" ky="0" algn="bl" rotWithShape="0" blurRad="101600" dist="25400" dir="5400000">
              <a:srgbClr val="1B2430">
                <a:alpha val="12000"/>
              </a:srgbClr>
            </a:outerShdw>
          </a:effectLst>
        </p:spPr>
        <p:txBody>
          <a:bodyPr/>
          <a:p/>
        </p:txBody>
      </p:sp>
      <p:sp>
        <p:nvSpPr>
          <p:cNvPr id="12" name="Shape 10"/>
          <p:cNvSpPr/>
          <p:nvPr/>
        </p:nvSpPr>
        <p:spPr>
          <a:xfrm>
            <a:off x="6126480" y="1828800"/>
            <a:ext cx="502920" cy="502920"/>
          </a:xfrm>
          <a:prstGeom prst="ellipse">
            <a:avLst/>
          </a:prstGeom>
          <a:solidFill>
            <a:srgbClr val="EEF2F5"/>
          </a:solidFill>
          <a:ln w="19050">
            <a:solidFill>
              <a:srgbClr val="2EA043"/>
            </a:solidFill>
            <a:prstDash val="solid"/>
          </a:ln>
        </p:spPr>
        <p:txBody>
          <a:bodyPr/>
          <a:p/>
        </p:txBody>
      </p:sp>
      <p:sp>
        <p:nvSpPr>
          <p:cNvPr id="13" name="Text 11"/>
          <p:cNvSpPr/>
          <p:nvPr/>
        </p:nvSpPr>
        <p:spPr>
          <a:xfrm>
            <a:off x="6126480" y="1828800"/>
            <a:ext cx="502920" cy="502920"/>
          </a:xfrm>
          <a:prstGeom prst="rect">
            <a:avLst/>
          </a:prstGeom>
          <a:noFill/>
          <a:ln/>
        </p:spPr>
        <p:txBody>
          <a:bodyPr wrap="square" lIns="0" tIns="0" rIns="0" bIns="0" rtlCol="0" anchor="ctr"/>
          <a:lstStyle/>
          <a:p>
            <a:pPr algn="ctr" indent="0" marL="0">
              <a:buNone/>
            </a:pPr>
            <a:r>
              <a:rPr lang="en-US" sz="1800" b="1" dirty="0">
                <a:solidFill>
                  <a:srgbClr val="2EA043"/>
                </a:solidFill>
                <a:latin typeface="Courier New" pitchFamily="34" charset="0"/>
                <a:ea typeface="Courier New" pitchFamily="34" charset="-122"/>
                <a:cs typeface="Courier New" pitchFamily="34" charset="-120"/>
              </a:rPr>
              <a:t>B</a:t>
            </a:r>
            <a:endParaRPr lang="en-US" sz="1800" dirty="0"/>
          </a:p>
        </p:txBody>
      </p:sp>
      <p:sp>
        <p:nvSpPr>
          <p:cNvPr id="14" name="Text 12"/>
          <p:cNvSpPr/>
          <p:nvPr/>
        </p:nvSpPr>
        <p:spPr>
          <a:xfrm>
            <a:off x="6812280" y="1783080"/>
            <a:ext cx="3840480" cy="594360"/>
          </a:xfrm>
          <a:prstGeom prst="rect">
            <a:avLst/>
          </a:prstGeom>
          <a:noFill/>
          <a:ln/>
        </p:spPr>
        <p:txBody>
          <a:bodyPr wrap="square" lIns="0" tIns="0" rIns="0" bIns="0" rtlCol="0" anchor="t"/>
          <a:lstStyle/>
          <a:p>
            <a:pPr algn="l" indent="0" marL="0">
              <a:buNone/>
            </a:pPr>
            <a:r>
              <a:rPr lang="en-US" sz="1450" b="1" dirty="0">
                <a:solidFill>
                  <a:srgbClr val="10151C"/>
                </a:solidFill>
                <a:latin typeface="Calibri" pitchFamily="34" charset="0"/>
                <a:ea typeface="Calibri" pitchFamily="34" charset="-122"/>
                <a:cs typeface="Calibri" pitchFamily="34" charset="-120"/>
              </a:rPr>
              <a:t>Job control integrated at the core</a:t>
            </a:r>
            <a:endParaRPr lang="en-US" sz="1450" dirty="0"/>
          </a:p>
        </p:txBody>
      </p:sp>
      <p:sp>
        <p:nvSpPr>
          <p:cNvPr id="15" name="Text 13"/>
          <p:cNvSpPr/>
          <p:nvPr/>
        </p:nvSpPr>
        <p:spPr>
          <a:xfrm>
            <a:off x="6126480" y="2468880"/>
            <a:ext cx="4526280" cy="1051560"/>
          </a:xfrm>
          <a:prstGeom prst="rect">
            <a:avLst/>
          </a:prstGeom>
          <a:noFill/>
          <a:ln/>
        </p:spPr>
        <p:txBody>
          <a:bodyPr wrap="square" lIns="0" tIns="0" rIns="0" bIns="0" rtlCol="0" anchor="t"/>
          <a:lstStyle/>
          <a:p>
            <a:pPr algn="l" indent="0" marL="0">
              <a:lnSpc>
                <a:spcPct val="115000"/>
              </a:lnSpc>
              <a:buNone/>
            </a:pPr>
            <a:r>
              <a:rPr lang="en-US" sz="1150" dirty="0">
                <a:solidFill>
                  <a:srgbClr val="434C56"/>
                </a:solidFill>
                <a:latin typeface="Calibri" pitchFamily="34" charset="0"/>
                <a:ea typeface="Calibri" pitchFamily="34" charset="-122"/>
                <a:cs typeface="Calibri" pitchFamily="34" charset="-120"/>
              </a:rPr>
              <a:t>jobs.c and signals.c give native background/foreground execution and Ctrl+C / Ctrl+Z handling, not bolted on afterward.</a:t>
            </a:r>
            <a:endParaRPr lang="en-US" sz="1150" dirty="0"/>
          </a:p>
        </p:txBody>
      </p:sp>
      <p:sp>
        <p:nvSpPr>
          <p:cNvPr id="16" name="Shape 14"/>
          <p:cNvSpPr/>
          <p:nvPr/>
        </p:nvSpPr>
        <p:spPr>
          <a:xfrm>
            <a:off x="457200" y="3931920"/>
            <a:ext cx="5074920" cy="2148840"/>
          </a:xfrm>
          <a:prstGeom prst="roundRect">
            <a:avLst>
              <a:gd name="adj" fmla="val 3404"/>
            </a:avLst>
          </a:prstGeom>
          <a:solidFill>
            <a:srgbClr val="FFFFFF"/>
          </a:solidFill>
          <a:ln w="12700">
            <a:solidFill>
              <a:srgbClr val="E1E6EB"/>
            </a:solidFill>
            <a:prstDash val="solid"/>
          </a:ln>
          <a:effectLst>
            <a:outerShdw sx="100000" sy="100000" kx="0" ky="0" algn="bl" rotWithShape="0" blurRad="101600" dist="25400" dir="5400000">
              <a:srgbClr val="1B2430">
                <a:alpha val="12000"/>
              </a:srgbClr>
            </a:outerShdw>
          </a:effectLst>
        </p:spPr>
        <p:txBody>
          <a:bodyPr/>
          <a:p/>
        </p:txBody>
      </p:sp>
      <p:sp>
        <p:nvSpPr>
          <p:cNvPr id="17" name="Shape 15"/>
          <p:cNvSpPr/>
          <p:nvPr/>
        </p:nvSpPr>
        <p:spPr>
          <a:xfrm>
            <a:off x="731520" y="4206240"/>
            <a:ext cx="502920" cy="502920"/>
          </a:xfrm>
          <a:prstGeom prst="ellipse">
            <a:avLst/>
          </a:prstGeom>
          <a:solidFill>
            <a:srgbClr val="EEF2F5"/>
          </a:solidFill>
          <a:ln w="19050">
            <a:solidFill>
              <a:srgbClr val="2EA043"/>
            </a:solidFill>
            <a:prstDash val="solid"/>
          </a:ln>
        </p:spPr>
        <p:txBody>
          <a:bodyPr/>
          <a:p/>
        </p:txBody>
      </p:sp>
      <p:sp>
        <p:nvSpPr>
          <p:cNvPr id="18" name="Text 16"/>
          <p:cNvSpPr/>
          <p:nvPr/>
        </p:nvSpPr>
        <p:spPr>
          <a:xfrm>
            <a:off x="731520" y="4206240"/>
            <a:ext cx="502920" cy="502920"/>
          </a:xfrm>
          <a:prstGeom prst="rect">
            <a:avLst/>
          </a:prstGeom>
          <a:noFill/>
          <a:ln/>
        </p:spPr>
        <p:txBody>
          <a:bodyPr wrap="square" lIns="0" tIns="0" rIns="0" bIns="0" rtlCol="0" anchor="ctr"/>
          <a:lstStyle/>
          <a:p>
            <a:pPr algn="ctr" indent="0" marL="0">
              <a:buNone/>
            </a:pPr>
            <a:r>
              <a:rPr lang="en-US" sz="1800" b="1" dirty="0">
                <a:solidFill>
                  <a:srgbClr val="2EA043"/>
                </a:solidFill>
                <a:latin typeface="Courier New" pitchFamily="34" charset="0"/>
                <a:ea typeface="Courier New" pitchFamily="34" charset="-122"/>
                <a:cs typeface="Courier New" pitchFamily="34" charset="-120"/>
              </a:rPr>
              <a:t>C</a:t>
            </a:r>
            <a:endParaRPr lang="en-US" sz="1800" dirty="0"/>
          </a:p>
        </p:txBody>
      </p:sp>
      <p:sp>
        <p:nvSpPr>
          <p:cNvPr id="19" name="Text 17"/>
          <p:cNvSpPr/>
          <p:nvPr/>
        </p:nvSpPr>
        <p:spPr>
          <a:xfrm>
            <a:off x="1417320" y="4160520"/>
            <a:ext cx="3840480" cy="594360"/>
          </a:xfrm>
          <a:prstGeom prst="rect">
            <a:avLst/>
          </a:prstGeom>
          <a:noFill/>
          <a:ln/>
        </p:spPr>
        <p:txBody>
          <a:bodyPr wrap="square" lIns="0" tIns="0" rIns="0" bIns="0" rtlCol="0" anchor="t"/>
          <a:lstStyle/>
          <a:p>
            <a:pPr algn="l" indent="0" marL="0">
              <a:buNone/>
            </a:pPr>
            <a:r>
              <a:rPr lang="en-US" sz="1450" b="1" dirty="0">
                <a:solidFill>
                  <a:srgbClr val="10151C"/>
                </a:solidFill>
                <a:latin typeface="Calibri" pitchFamily="34" charset="0"/>
                <a:ea typeface="Calibri" pitchFamily="34" charset="-122"/>
                <a:cs typeface="Calibri" pitchFamily="34" charset="-120"/>
              </a:rPr>
              <a:t>Built-in system monitor: memstat</a:t>
            </a:r>
            <a:endParaRPr lang="en-US" sz="1450" dirty="0"/>
          </a:p>
        </p:txBody>
      </p:sp>
      <p:sp>
        <p:nvSpPr>
          <p:cNvPr id="20" name="Text 18"/>
          <p:cNvSpPr/>
          <p:nvPr/>
        </p:nvSpPr>
        <p:spPr>
          <a:xfrm>
            <a:off x="731520" y="4846320"/>
            <a:ext cx="4526280" cy="1051560"/>
          </a:xfrm>
          <a:prstGeom prst="rect">
            <a:avLst/>
          </a:prstGeom>
          <a:noFill/>
          <a:ln/>
        </p:spPr>
        <p:txBody>
          <a:bodyPr wrap="square" lIns="0" tIns="0" rIns="0" bIns="0" rtlCol="0" anchor="t"/>
          <a:lstStyle/>
          <a:p>
            <a:pPr algn="l" indent="0" marL="0">
              <a:lnSpc>
                <a:spcPct val="115000"/>
              </a:lnSpc>
              <a:buNone/>
            </a:pPr>
            <a:r>
              <a:rPr lang="en-US" sz="1150" dirty="0">
                <a:solidFill>
                  <a:srgbClr val="434C56"/>
                </a:solidFill>
                <a:latin typeface="Calibri" pitchFamily="34" charset="0"/>
                <a:ea typeface="Calibri" pitchFamily="34" charset="-122"/>
                <a:cs typeface="Calibri" pitchFamily="34" charset="-120"/>
              </a:rPr>
              <a:t>memstat.c and monitor.c add a virtual memory monitoring command — a feature not found in typical teaching shells.</a:t>
            </a:r>
            <a:endParaRPr lang="en-US" sz="1150" dirty="0"/>
          </a:p>
        </p:txBody>
      </p:sp>
      <p:sp>
        <p:nvSpPr>
          <p:cNvPr id="21" name="Shape 19"/>
          <p:cNvSpPr/>
          <p:nvPr/>
        </p:nvSpPr>
        <p:spPr>
          <a:xfrm>
            <a:off x="5852160" y="3931920"/>
            <a:ext cx="5074920" cy="2148840"/>
          </a:xfrm>
          <a:prstGeom prst="roundRect">
            <a:avLst>
              <a:gd name="adj" fmla="val 3404"/>
            </a:avLst>
          </a:prstGeom>
          <a:solidFill>
            <a:srgbClr val="FFFFFF"/>
          </a:solidFill>
          <a:ln w="12700">
            <a:solidFill>
              <a:srgbClr val="E1E6EB"/>
            </a:solidFill>
            <a:prstDash val="solid"/>
          </a:ln>
          <a:effectLst>
            <a:outerShdw sx="100000" sy="100000" kx="0" ky="0" algn="bl" rotWithShape="0" blurRad="101600" dist="25400" dir="5400000">
              <a:srgbClr val="1B2430">
                <a:alpha val="12000"/>
              </a:srgbClr>
            </a:outerShdw>
          </a:effectLst>
        </p:spPr>
        <p:txBody>
          <a:bodyPr/>
          <a:p/>
        </p:txBody>
      </p:sp>
      <p:sp>
        <p:nvSpPr>
          <p:cNvPr id="22" name="Shape 20"/>
          <p:cNvSpPr/>
          <p:nvPr/>
        </p:nvSpPr>
        <p:spPr>
          <a:xfrm>
            <a:off x="6126480" y="4206240"/>
            <a:ext cx="502920" cy="502920"/>
          </a:xfrm>
          <a:prstGeom prst="ellipse">
            <a:avLst/>
          </a:prstGeom>
          <a:solidFill>
            <a:srgbClr val="EEF2F5"/>
          </a:solidFill>
          <a:ln w="19050">
            <a:solidFill>
              <a:srgbClr val="2EA043"/>
            </a:solidFill>
            <a:prstDash val="solid"/>
          </a:ln>
        </p:spPr>
        <p:txBody>
          <a:bodyPr/>
          <a:p/>
        </p:txBody>
      </p:sp>
      <p:sp>
        <p:nvSpPr>
          <p:cNvPr id="23" name="Text 21"/>
          <p:cNvSpPr/>
          <p:nvPr/>
        </p:nvSpPr>
        <p:spPr>
          <a:xfrm>
            <a:off x="6126480" y="4206240"/>
            <a:ext cx="502920" cy="502920"/>
          </a:xfrm>
          <a:prstGeom prst="rect">
            <a:avLst/>
          </a:prstGeom>
          <a:noFill/>
          <a:ln/>
        </p:spPr>
        <p:txBody>
          <a:bodyPr wrap="square" lIns="0" tIns="0" rIns="0" bIns="0" rtlCol="0" anchor="ctr"/>
          <a:lstStyle/>
          <a:p>
            <a:pPr algn="ctr" indent="0" marL="0">
              <a:buNone/>
            </a:pPr>
            <a:r>
              <a:rPr lang="en-US" sz="1800" b="1" dirty="0">
                <a:solidFill>
                  <a:srgbClr val="2EA043"/>
                </a:solidFill>
                <a:latin typeface="Courier New" pitchFamily="34" charset="0"/>
                <a:ea typeface="Courier New" pitchFamily="34" charset="-122"/>
                <a:cs typeface="Courier New" pitchFamily="34" charset="-120"/>
              </a:rPr>
              <a:t>D</a:t>
            </a:r>
            <a:endParaRPr lang="en-US" sz="1800" dirty="0"/>
          </a:p>
        </p:txBody>
      </p:sp>
      <p:sp>
        <p:nvSpPr>
          <p:cNvPr id="24" name="Text 22"/>
          <p:cNvSpPr/>
          <p:nvPr/>
        </p:nvSpPr>
        <p:spPr>
          <a:xfrm>
            <a:off x="6812280" y="4160520"/>
            <a:ext cx="3840480" cy="594360"/>
          </a:xfrm>
          <a:prstGeom prst="rect">
            <a:avLst/>
          </a:prstGeom>
          <a:noFill/>
          <a:ln/>
        </p:spPr>
        <p:txBody>
          <a:bodyPr wrap="square" lIns="0" tIns="0" rIns="0" bIns="0" rtlCol="0" anchor="t"/>
          <a:lstStyle/>
          <a:p>
            <a:pPr algn="l" indent="0" marL="0">
              <a:buNone/>
            </a:pPr>
            <a:r>
              <a:rPr lang="en-US" sz="1450" b="1" dirty="0">
                <a:solidFill>
                  <a:srgbClr val="10151C"/>
                </a:solidFill>
                <a:latin typeface="Calibri" pitchFamily="34" charset="0"/>
                <a:ea typeface="Calibri" pitchFamily="34" charset="-122"/>
                <a:cs typeface="Calibri" pitchFamily="34" charset="-120"/>
              </a:rPr>
              <a:t>Clean modular C architecture</a:t>
            </a:r>
            <a:endParaRPr lang="en-US" sz="1450" dirty="0"/>
          </a:p>
        </p:txBody>
      </p:sp>
      <p:sp>
        <p:nvSpPr>
          <p:cNvPr id="25" name="Text 23"/>
          <p:cNvSpPr/>
          <p:nvPr/>
        </p:nvSpPr>
        <p:spPr>
          <a:xfrm>
            <a:off x="6126480" y="4846320"/>
            <a:ext cx="4526280" cy="1051560"/>
          </a:xfrm>
          <a:prstGeom prst="rect">
            <a:avLst/>
          </a:prstGeom>
          <a:noFill/>
          <a:ln/>
        </p:spPr>
        <p:txBody>
          <a:bodyPr wrap="square" lIns="0" tIns="0" rIns="0" bIns="0" rtlCol="0" anchor="t"/>
          <a:lstStyle/>
          <a:p>
            <a:pPr algn="l" indent="0" marL="0">
              <a:lnSpc>
                <a:spcPct val="115000"/>
              </a:lnSpc>
              <a:buNone/>
            </a:pPr>
            <a:r>
              <a:rPr lang="en-US" sz="1150" dirty="0">
                <a:solidFill>
                  <a:srgbClr val="434C56"/>
                </a:solidFill>
                <a:latin typeface="Calibri" pitchFamily="34" charset="0"/>
                <a:ea typeface="Calibri" pitchFamily="34" charset="-122"/>
                <a:cs typeface="Calibri" pitchFamily="34" charset="-120"/>
              </a:rPr>
              <a:t>Each concern (execution, parsing, jobs, signals, memory) has a matched .c/.h pair, making the codebase itself a teaching artifact.</a:t>
            </a:r>
            <a:endParaRPr lang="en-US" sz="1150" dirty="0"/>
          </a:p>
        </p:txBody>
      </p:sp>
      <p:sp>
        <p:nvSpPr>
          <p:cNvPr id="26" name="Text 24"/>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8B949E"/>
                </a:solidFill>
                <a:latin typeface="Courier New" pitchFamily="34" charset="0"/>
                <a:ea typeface="Courier New" pitchFamily="34" charset="-122"/>
                <a:cs typeface="Courier New" pitchFamily="34" charset="-120"/>
              </a:rPr>
              <a:t>EduShell — A Mini Unix-Like Shell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384048"/>
            <a:ext cx="1097280" cy="731520"/>
          </a:xfrm>
          <a:prstGeom prst="rect">
            <a:avLst/>
          </a:prstGeom>
          <a:noFill/>
          <a:ln/>
        </p:spPr>
        <p:txBody>
          <a:bodyPr wrap="square" lIns="0" tIns="0" rIns="0" bIns="0" rtlCol="0" anchor="ctr"/>
          <a:lstStyle/>
          <a:p>
            <a:pPr indent="0" marL="0">
              <a:buNone/>
            </a:pPr>
            <a:r>
              <a:rPr lang="en-US" sz="3400" b="1" dirty="0">
                <a:solidFill>
                  <a:srgbClr val="222B36"/>
                </a:solidFill>
                <a:latin typeface="Courier New" pitchFamily="34" charset="0"/>
                <a:ea typeface="Courier New" pitchFamily="34" charset="-122"/>
                <a:cs typeface="Courier New" pitchFamily="34" charset="-120"/>
              </a:rPr>
              <a:t>02</a:t>
            </a:r>
            <a:endParaRPr lang="en-US" sz="3400" dirty="0"/>
          </a:p>
        </p:txBody>
      </p:sp>
      <p:sp>
        <p:nvSpPr>
          <p:cNvPr id="3" name="Text 1"/>
          <p:cNvSpPr/>
          <p:nvPr/>
        </p:nvSpPr>
        <p:spPr>
          <a:xfrm>
            <a:off x="1371600" y="457200"/>
            <a:ext cx="8686800" cy="548640"/>
          </a:xfrm>
          <a:prstGeom prst="rect">
            <a:avLst/>
          </a:prstGeom>
          <a:noFill/>
          <a:ln/>
        </p:spPr>
        <p:txBody>
          <a:bodyPr wrap="square" lIns="0" tIns="0" rIns="0" bIns="0" rtlCol="0" anchor="ctr"/>
          <a:lstStyle/>
          <a:p>
            <a:pPr indent="0" marL="0">
              <a:buNone/>
            </a:pPr>
            <a:r>
              <a:rPr lang="en-US" sz="2800" b="1" dirty="0">
                <a:solidFill>
                  <a:srgbClr val="FFFFFF"/>
                </a:solidFill>
                <a:latin typeface="Courier New" pitchFamily="34" charset="0"/>
                <a:ea typeface="Courier New" pitchFamily="34" charset="-122"/>
                <a:cs typeface="Courier New" pitchFamily="34" charset="-120"/>
              </a:rPr>
              <a:t>Adaptability of Methodology</a:t>
            </a:r>
            <a:endParaRPr lang="en-US" sz="2800" dirty="0"/>
          </a:p>
        </p:txBody>
      </p:sp>
      <p:sp>
        <p:nvSpPr>
          <p:cNvPr id="4" name="Text 2"/>
          <p:cNvSpPr/>
          <p:nvPr/>
        </p:nvSpPr>
        <p:spPr>
          <a:xfrm>
            <a:off x="1371600" y="932688"/>
            <a:ext cx="8686800" cy="320040"/>
          </a:xfrm>
          <a:prstGeom prst="rect">
            <a:avLst/>
          </a:prstGeom>
          <a:noFill/>
          <a:ln/>
        </p:spPr>
        <p:txBody>
          <a:bodyPr wrap="square" lIns="0" tIns="0" rIns="0" bIns="0" rtlCol="0" anchor="ctr"/>
          <a:lstStyle/>
          <a:p>
            <a:pPr indent="0" marL="0">
              <a:buNone/>
            </a:pPr>
            <a:r>
              <a:rPr lang="en-US" sz="1300" i="1" dirty="0">
                <a:solidFill>
                  <a:srgbClr val="8B949E"/>
                </a:solidFill>
                <a:latin typeface="Calibri" pitchFamily="34" charset="0"/>
                <a:ea typeface="Calibri" pitchFamily="34" charset="-122"/>
                <a:cs typeface="Calibri" pitchFamily="34" charset="-120"/>
              </a:rPr>
              <a:t>How the modular design extends to new features and environments</a:t>
            </a:r>
            <a:endParaRPr lang="en-US" sz="1300" dirty="0"/>
          </a:p>
        </p:txBody>
      </p:sp>
      <p:sp>
        <p:nvSpPr>
          <p:cNvPr id="5" name="Text 3"/>
          <p:cNvSpPr/>
          <p:nvPr/>
        </p:nvSpPr>
        <p:spPr>
          <a:xfrm>
            <a:off x="10561320" y="292608"/>
            <a:ext cx="1371600" cy="274320"/>
          </a:xfrm>
          <a:prstGeom prst="rect">
            <a:avLst/>
          </a:prstGeom>
          <a:noFill/>
          <a:ln/>
        </p:spPr>
        <p:txBody>
          <a:bodyPr wrap="square" lIns="0" tIns="0" rIns="0" bIns="0" rtlCol="0" anchor="ctr"/>
          <a:lstStyle/>
          <a:p>
            <a:pPr algn="r" indent="0" marL="0">
              <a:buNone/>
            </a:pPr>
            <a:r>
              <a:rPr lang="en-US" sz="1100" dirty="0">
                <a:solidFill>
                  <a:srgbClr val="8B949E"/>
                </a:solidFill>
                <a:latin typeface="Courier New" pitchFamily="34" charset="0"/>
                <a:ea typeface="Courier New" pitchFamily="34" charset="-122"/>
                <a:cs typeface="Courier New" pitchFamily="34" charset="-120"/>
              </a:rPr>
              <a:t>[ 03 / 06 ]</a:t>
            </a:r>
            <a:endParaRPr lang="en-US" sz="1100" dirty="0"/>
          </a:p>
        </p:txBody>
      </p:sp>
      <p:sp>
        <p:nvSpPr>
          <p:cNvPr id="6" name="Shape 4"/>
          <p:cNvSpPr/>
          <p:nvPr/>
        </p:nvSpPr>
        <p:spPr>
          <a:xfrm>
            <a:off x="548640" y="1691640"/>
            <a:ext cx="5120640" cy="4251960"/>
          </a:xfrm>
          <a:prstGeom prst="roundRect">
            <a:avLst>
              <a:gd name="adj" fmla="val 1720"/>
            </a:avLst>
          </a:prstGeom>
          <a:solidFill>
            <a:srgbClr val="161B22"/>
          </a:solidFill>
          <a:ln w="12700">
            <a:solidFill>
              <a:srgbClr val="30363D"/>
            </a:solidFill>
            <a:prstDash val="solid"/>
          </a:ln>
        </p:spPr>
        <p:txBody>
          <a:bodyPr/>
          <a:p/>
        </p:txBody>
      </p:sp>
      <p:sp>
        <p:nvSpPr>
          <p:cNvPr id="7" name="Shape 5"/>
          <p:cNvSpPr/>
          <p:nvPr/>
        </p:nvSpPr>
        <p:spPr>
          <a:xfrm>
            <a:off x="548640" y="1691640"/>
            <a:ext cx="5120640" cy="292608"/>
          </a:xfrm>
          <a:prstGeom prst="roundRect">
            <a:avLst>
              <a:gd name="adj" fmla="val 18750"/>
            </a:avLst>
          </a:prstGeom>
          <a:solidFill>
            <a:srgbClr val="0B0F14"/>
          </a:solidFill>
          <a:ln/>
        </p:spPr>
        <p:txBody>
          <a:bodyPr/>
          <a:p/>
        </p:txBody>
      </p:sp>
      <p:sp>
        <p:nvSpPr>
          <p:cNvPr id="8" name="Shape 6"/>
          <p:cNvSpPr/>
          <p:nvPr/>
        </p:nvSpPr>
        <p:spPr>
          <a:xfrm>
            <a:off x="658368" y="1783080"/>
            <a:ext cx="109728" cy="109728"/>
          </a:xfrm>
          <a:prstGeom prst="ellipse">
            <a:avLst/>
          </a:prstGeom>
          <a:solidFill>
            <a:srgbClr val="F85149"/>
          </a:solidFill>
          <a:ln/>
        </p:spPr>
        <p:txBody>
          <a:bodyPr/>
          <a:p/>
        </p:txBody>
      </p:sp>
      <p:sp>
        <p:nvSpPr>
          <p:cNvPr id="9" name="Shape 7"/>
          <p:cNvSpPr/>
          <p:nvPr/>
        </p:nvSpPr>
        <p:spPr>
          <a:xfrm>
            <a:off x="822960" y="1783080"/>
            <a:ext cx="109728" cy="109728"/>
          </a:xfrm>
          <a:prstGeom prst="ellipse">
            <a:avLst/>
          </a:prstGeom>
          <a:solidFill>
            <a:srgbClr val="E3B341"/>
          </a:solidFill>
          <a:ln/>
        </p:spPr>
        <p:txBody>
          <a:bodyPr/>
          <a:p/>
        </p:txBody>
      </p:sp>
      <p:sp>
        <p:nvSpPr>
          <p:cNvPr id="10" name="Shape 8"/>
          <p:cNvSpPr/>
          <p:nvPr/>
        </p:nvSpPr>
        <p:spPr>
          <a:xfrm>
            <a:off x="987552" y="1783080"/>
            <a:ext cx="109728" cy="109728"/>
          </a:xfrm>
          <a:prstGeom prst="ellipse">
            <a:avLst/>
          </a:prstGeom>
          <a:solidFill>
            <a:srgbClr val="39D353"/>
          </a:solidFill>
          <a:ln/>
        </p:spPr>
        <p:txBody>
          <a:bodyPr/>
          <a:p/>
        </p:txBody>
      </p:sp>
      <p:sp>
        <p:nvSpPr>
          <p:cNvPr id="11" name="Text 9"/>
          <p:cNvSpPr/>
          <p:nvPr/>
        </p:nvSpPr>
        <p:spPr>
          <a:xfrm>
            <a:off x="1097280" y="1673352"/>
            <a:ext cx="4389120" cy="329184"/>
          </a:xfrm>
          <a:prstGeom prst="rect">
            <a:avLst/>
          </a:prstGeom>
          <a:noFill/>
          <a:ln/>
        </p:spPr>
        <p:txBody>
          <a:bodyPr wrap="square" lIns="0" tIns="0" rIns="0" bIns="0" rtlCol="0" anchor="ctr"/>
          <a:lstStyle/>
          <a:p>
            <a:pPr algn="l" indent="0" marL="0">
              <a:buNone/>
            </a:pPr>
            <a:r>
              <a:rPr lang="en-US" sz="1000" dirty="0">
                <a:solidFill>
                  <a:srgbClr val="8B949E"/>
                </a:solidFill>
                <a:latin typeface="Courier New" pitchFamily="34" charset="0"/>
                <a:ea typeface="Courier New" pitchFamily="34" charset="-122"/>
                <a:cs typeface="Courier New" pitchFamily="34" charset="-120"/>
              </a:rPr>
              <a:t>module dependency flow</a:t>
            </a:r>
            <a:endParaRPr lang="en-US" sz="1000" dirty="0"/>
          </a:p>
        </p:txBody>
      </p:sp>
      <p:sp>
        <p:nvSpPr>
          <p:cNvPr id="12" name="Shape 10"/>
          <p:cNvSpPr/>
          <p:nvPr/>
        </p:nvSpPr>
        <p:spPr>
          <a:xfrm>
            <a:off x="1005840" y="2286000"/>
            <a:ext cx="4206240" cy="566928"/>
          </a:xfrm>
          <a:prstGeom prst="roundRect">
            <a:avLst>
              <a:gd name="adj" fmla="val 9677"/>
            </a:avLst>
          </a:prstGeom>
          <a:solidFill>
            <a:srgbClr val="1C2333"/>
          </a:solidFill>
          <a:ln w="9525">
            <a:solidFill>
              <a:srgbClr val="39D353"/>
            </a:solidFill>
            <a:prstDash val="solid"/>
          </a:ln>
        </p:spPr>
        <p:txBody>
          <a:bodyPr/>
          <a:p/>
        </p:txBody>
      </p:sp>
      <p:sp>
        <p:nvSpPr>
          <p:cNvPr id="13" name="Text 11"/>
          <p:cNvSpPr/>
          <p:nvPr/>
        </p:nvSpPr>
        <p:spPr>
          <a:xfrm>
            <a:off x="1005840" y="2286000"/>
            <a:ext cx="4206240" cy="566928"/>
          </a:xfrm>
          <a:prstGeom prst="rect">
            <a:avLst/>
          </a:prstGeom>
          <a:noFill/>
          <a:ln/>
        </p:spPr>
        <p:txBody>
          <a:bodyPr wrap="square" lIns="0" tIns="0" rIns="0" bIns="0" rtlCol="0" anchor="ctr"/>
          <a:lstStyle/>
          <a:p>
            <a:pPr algn="ctr" indent="0" marL="0">
              <a:buNone/>
            </a:pPr>
            <a:r>
              <a:rPr lang="en-US" sz="1300" dirty="0">
                <a:solidFill>
                  <a:srgbClr val="E6EDF3"/>
                </a:solidFill>
                <a:latin typeface="Courier New" pitchFamily="34" charset="0"/>
                <a:ea typeface="Courier New" pitchFamily="34" charset="-122"/>
                <a:cs typeface="Courier New" pitchFamily="34" charset="-120"/>
              </a:rPr>
              <a:t>lexer.c</a:t>
            </a:r>
            <a:endParaRPr lang="en-US" sz="1300" dirty="0"/>
          </a:p>
        </p:txBody>
      </p:sp>
      <p:sp>
        <p:nvSpPr>
          <p:cNvPr id="14" name="Text 12"/>
          <p:cNvSpPr/>
          <p:nvPr/>
        </p:nvSpPr>
        <p:spPr>
          <a:xfrm>
            <a:off x="2834640" y="2834640"/>
            <a:ext cx="548640" cy="228600"/>
          </a:xfrm>
          <a:prstGeom prst="rect">
            <a:avLst/>
          </a:prstGeom>
          <a:noFill/>
          <a:ln/>
        </p:spPr>
        <p:txBody>
          <a:bodyPr wrap="square" lIns="0" tIns="0" rIns="0" bIns="0" rtlCol="0" anchor="ctr"/>
          <a:lstStyle/>
          <a:p>
            <a:pPr algn="ctr" indent="0" marL="0">
              <a:buNone/>
            </a:pPr>
            <a:r>
              <a:rPr lang="en-US" sz="1400" dirty="0">
                <a:solidFill>
                  <a:srgbClr val="39D353"/>
                </a:solidFill>
                <a:latin typeface="Courier New" pitchFamily="34" charset="0"/>
                <a:ea typeface="Courier New" pitchFamily="34" charset="-122"/>
                <a:cs typeface="Courier New" pitchFamily="34" charset="-120"/>
              </a:rPr>
              <a:t>↓</a:t>
            </a:r>
            <a:endParaRPr lang="en-US" sz="1400" dirty="0"/>
          </a:p>
        </p:txBody>
      </p:sp>
      <p:sp>
        <p:nvSpPr>
          <p:cNvPr id="15" name="Shape 13"/>
          <p:cNvSpPr/>
          <p:nvPr/>
        </p:nvSpPr>
        <p:spPr>
          <a:xfrm>
            <a:off x="1005840" y="2990088"/>
            <a:ext cx="4206240" cy="566928"/>
          </a:xfrm>
          <a:prstGeom prst="roundRect">
            <a:avLst>
              <a:gd name="adj" fmla="val 9677"/>
            </a:avLst>
          </a:prstGeom>
          <a:solidFill>
            <a:srgbClr val="1C2333"/>
          </a:solidFill>
          <a:ln w="9525">
            <a:solidFill>
              <a:srgbClr val="39D353"/>
            </a:solidFill>
            <a:prstDash val="solid"/>
          </a:ln>
        </p:spPr>
        <p:txBody>
          <a:bodyPr/>
          <a:p/>
        </p:txBody>
      </p:sp>
      <p:sp>
        <p:nvSpPr>
          <p:cNvPr id="16" name="Text 14"/>
          <p:cNvSpPr/>
          <p:nvPr/>
        </p:nvSpPr>
        <p:spPr>
          <a:xfrm>
            <a:off x="1005840" y="2990088"/>
            <a:ext cx="4206240" cy="566928"/>
          </a:xfrm>
          <a:prstGeom prst="rect">
            <a:avLst/>
          </a:prstGeom>
          <a:noFill/>
          <a:ln/>
        </p:spPr>
        <p:txBody>
          <a:bodyPr wrap="square" lIns="0" tIns="0" rIns="0" bIns="0" rtlCol="0" anchor="ctr"/>
          <a:lstStyle/>
          <a:p>
            <a:pPr algn="ctr" indent="0" marL="0">
              <a:buNone/>
            </a:pPr>
            <a:r>
              <a:rPr lang="en-US" sz="1300" dirty="0">
                <a:solidFill>
                  <a:srgbClr val="E6EDF3"/>
                </a:solidFill>
                <a:latin typeface="Courier New" pitchFamily="34" charset="0"/>
                <a:ea typeface="Courier New" pitchFamily="34" charset="-122"/>
                <a:cs typeface="Courier New" pitchFamily="34" charset="-120"/>
              </a:rPr>
              <a:t>parser.c</a:t>
            </a:r>
            <a:endParaRPr lang="en-US" sz="1300" dirty="0"/>
          </a:p>
        </p:txBody>
      </p:sp>
      <p:sp>
        <p:nvSpPr>
          <p:cNvPr id="17" name="Text 15"/>
          <p:cNvSpPr/>
          <p:nvPr/>
        </p:nvSpPr>
        <p:spPr>
          <a:xfrm>
            <a:off x="2834640" y="3538728"/>
            <a:ext cx="548640" cy="228600"/>
          </a:xfrm>
          <a:prstGeom prst="rect">
            <a:avLst/>
          </a:prstGeom>
          <a:noFill/>
          <a:ln/>
        </p:spPr>
        <p:txBody>
          <a:bodyPr wrap="square" lIns="0" tIns="0" rIns="0" bIns="0" rtlCol="0" anchor="ctr"/>
          <a:lstStyle/>
          <a:p>
            <a:pPr algn="ctr" indent="0" marL="0">
              <a:buNone/>
            </a:pPr>
            <a:r>
              <a:rPr lang="en-US" sz="1400" dirty="0">
                <a:solidFill>
                  <a:srgbClr val="39D353"/>
                </a:solidFill>
                <a:latin typeface="Courier New" pitchFamily="34" charset="0"/>
                <a:ea typeface="Courier New" pitchFamily="34" charset="-122"/>
                <a:cs typeface="Courier New" pitchFamily="34" charset="-120"/>
              </a:rPr>
              <a:t>↓</a:t>
            </a:r>
            <a:endParaRPr lang="en-US" sz="1400" dirty="0"/>
          </a:p>
        </p:txBody>
      </p:sp>
      <p:sp>
        <p:nvSpPr>
          <p:cNvPr id="18" name="Shape 16"/>
          <p:cNvSpPr/>
          <p:nvPr/>
        </p:nvSpPr>
        <p:spPr>
          <a:xfrm>
            <a:off x="1005840" y="3694176"/>
            <a:ext cx="4206240" cy="566928"/>
          </a:xfrm>
          <a:prstGeom prst="roundRect">
            <a:avLst>
              <a:gd name="adj" fmla="val 9677"/>
            </a:avLst>
          </a:prstGeom>
          <a:solidFill>
            <a:srgbClr val="2EA043"/>
          </a:solidFill>
          <a:ln w="9525">
            <a:solidFill>
              <a:srgbClr val="39D353"/>
            </a:solidFill>
            <a:prstDash val="solid"/>
          </a:ln>
        </p:spPr>
        <p:txBody>
          <a:bodyPr/>
          <a:p/>
        </p:txBody>
      </p:sp>
      <p:sp>
        <p:nvSpPr>
          <p:cNvPr id="19" name="Text 17"/>
          <p:cNvSpPr/>
          <p:nvPr/>
        </p:nvSpPr>
        <p:spPr>
          <a:xfrm>
            <a:off x="1005840" y="3694176"/>
            <a:ext cx="4206240" cy="566928"/>
          </a:xfrm>
          <a:prstGeom prst="rect">
            <a:avLst/>
          </a:prstGeom>
          <a:noFill/>
          <a:ln/>
        </p:spPr>
        <p:txBody>
          <a:bodyPr wrap="square" lIns="0" tIns="0" rIns="0" bIns="0" rtlCol="0" anchor="ctr"/>
          <a:lstStyle/>
          <a:p>
            <a:pPr algn="ctr" indent="0" marL="0">
              <a:buNone/>
            </a:pPr>
            <a:r>
              <a:rPr lang="en-US" sz="1300" b="1" dirty="0">
                <a:solidFill>
                  <a:srgbClr val="0B0F14"/>
                </a:solidFill>
                <a:latin typeface="Courier New" pitchFamily="34" charset="0"/>
                <a:ea typeface="Courier New" pitchFamily="34" charset="-122"/>
                <a:cs typeface="Courier New" pitchFamily="34" charset="-120"/>
              </a:rPr>
              <a:t>executor.c</a:t>
            </a:r>
            <a:endParaRPr lang="en-US" sz="1300" dirty="0"/>
          </a:p>
        </p:txBody>
      </p:sp>
      <p:sp>
        <p:nvSpPr>
          <p:cNvPr id="20" name="Text 18"/>
          <p:cNvSpPr/>
          <p:nvPr/>
        </p:nvSpPr>
        <p:spPr>
          <a:xfrm>
            <a:off x="2834640" y="4242816"/>
            <a:ext cx="548640" cy="228600"/>
          </a:xfrm>
          <a:prstGeom prst="rect">
            <a:avLst/>
          </a:prstGeom>
          <a:noFill/>
          <a:ln/>
        </p:spPr>
        <p:txBody>
          <a:bodyPr wrap="square" lIns="0" tIns="0" rIns="0" bIns="0" rtlCol="0" anchor="ctr"/>
          <a:lstStyle/>
          <a:p>
            <a:pPr algn="ctr" indent="0" marL="0">
              <a:buNone/>
            </a:pPr>
            <a:r>
              <a:rPr lang="en-US" sz="1400" dirty="0">
                <a:solidFill>
                  <a:srgbClr val="39D353"/>
                </a:solidFill>
                <a:latin typeface="Courier New" pitchFamily="34" charset="0"/>
                <a:ea typeface="Courier New" pitchFamily="34" charset="-122"/>
                <a:cs typeface="Courier New" pitchFamily="34" charset="-120"/>
              </a:rPr>
              <a:t>↓</a:t>
            </a:r>
            <a:endParaRPr lang="en-US" sz="1400" dirty="0"/>
          </a:p>
        </p:txBody>
      </p:sp>
      <p:sp>
        <p:nvSpPr>
          <p:cNvPr id="21" name="Shape 19"/>
          <p:cNvSpPr/>
          <p:nvPr/>
        </p:nvSpPr>
        <p:spPr>
          <a:xfrm>
            <a:off x="1005840" y="4398264"/>
            <a:ext cx="4206240" cy="566928"/>
          </a:xfrm>
          <a:prstGeom prst="roundRect">
            <a:avLst>
              <a:gd name="adj" fmla="val 9677"/>
            </a:avLst>
          </a:prstGeom>
          <a:solidFill>
            <a:srgbClr val="1C2333"/>
          </a:solidFill>
          <a:ln w="9525">
            <a:solidFill>
              <a:srgbClr val="39D353"/>
            </a:solidFill>
            <a:prstDash val="solid"/>
          </a:ln>
        </p:spPr>
        <p:txBody>
          <a:bodyPr/>
          <a:p/>
        </p:txBody>
      </p:sp>
      <p:sp>
        <p:nvSpPr>
          <p:cNvPr id="22" name="Text 20"/>
          <p:cNvSpPr/>
          <p:nvPr/>
        </p:nvSpPr>
        <p:spPr>
          <a:xfrm>
            <a:off x="1005840" y="4398264"/>
            <a:ext cx="4206240" cy="566928"/>
          </a:xfrm>
          <a:prstGeom prst="rect">
            <a:avLst/>
          </a:prstGeom>
          <a:noFill/>
          <a:ln/>
        </p:spPr>
        <p:txBody>
          <a:bodyPr wrap="square" lIns="0" tIns="0" rIns="0" bIns="0" rtlCol="0" anchor="ctr"/>
          <a:lstStyle/>
          <a:p>
            <a:pPr algn="ctr" indent="0" marL="0">
              <a:buNone/>
            </a:pPr>
            <a:r>
              <a:rPr lang="en-US" sz="1300" dirty="0">
                <a:solidFill>
                  <a:srgbClr val="E6EDF3"/>
                </a:solidFill>
                <a:latin typeface="Courier New" pitchFamily="34" charset="0"/>
                <a:ea typeface="Courier New" pitchFamily="34" charset="-122"/>
                <a:cs typeface="Courier New" pitchFamily="34" charset="-120"/>
              </a:rPr>
              <a:t>jobs.c + signals.c</a:t>
            </a:r>
            <a:endParaRPr lang="en-US" sz="1300" dirty="0"/>
          </a:p>
        </p:txBody>
      </p:sp>
      <p:sp>
        <p:nvSpPr>
          <p:cNvPr id="23" name="Text 21"/>
          <p:cNvSpPr/>
          <p:nvPr/>
        </p:nvSpPr>
        <p:spPr>
          <a:xfrm>
            <a:off x="2834640" y="4946904"/>
            <a:ext cx="548640" cy="228600"/>
          </a:xfrm>
          <a:prstGeom prst="rect">
            <a:avLst/>
          </a:prstGeom>
          <a:noFill/>
          <a:ln/>
        </p:spPr>
        <p:txBody>
          <a:bodyPr wrap="square" lIns="0" tIns="0" rIns="0" bIns="0" rtlCol="0" anchor="ctr"/>
          <a:lstStyle/>
          <a:p>
            <a:pPr algn="ctr" indent="0" marL="0">
              <a:buNone/>
            </a:pPr>
            <a:r>
              <a:rPr lang="en-US" sz="1400" dirty="0">
                <a:solidFill>
                  <a:srgbClr val="39D353"/>
                </a:solidFill>
                <a:latin typeface="Courier New" pitchFamily="34" charset="0"/>
                <a:ea typeface="Courier New" pitchFamily="34" charset="-122"/>
                <a:cs typeface="Courier New" pitchFamily="34" charset="-120"/>
              </a:rPr>
              <a:t>↓</a:t>
            </a:r>
            <a:endParaRPr lang="en-US" sz="1400" dirty="0"/>
          </a:p>
        </p:txBody>
      </p:sp>
      <p:sp>
        <p:nvSpPr>
          <p:cNvPr id="24" name="Shape 22"/>
          <p:cNvSpPr/>
          <p:nvPr/>
        </p:nvSpPr>
        <p:spPr>
          <a:xfrm>
            <a:off x="1005840" y="5102352"/>
            <a:ext cx="4206240" cy="566928"/>
          </a:xfrm>
          <a:prstGeom prst="roundRect">
            <a:avLst>
              <a:gd name="adj" fmla="val 9677"/>
            </a:avLst>
          </a:prstGeom>
          <a:solidFill>
            <a:srgbClr val="1C2333"/>
          </a:solidFill>
          <a:ln w="9525">
            <a:solidFill>
              <a:srgbClr val="39D353"/>
            </a:solidFill>
            <a:prstDash val="solid"/>
          </a:ln>
        </p:spPr>
        <p:txBody>
          <a:bodyPr/>
          <a:p/>
        </p:txBody>
      </p:sp>
      <p:sp>
        <p:nvSpPr>
          <p:cNvPr id="25" name="Text 23"/>
          <p:cNvSpPr/>
          <p:nvPr/>
        </p:nvSpPr>
        <p:spPr>
          <a:xfrm>
            <a:off x="1005840" y="5102352"/>
            <a:ext cx="4206240" cy="566928"/>
          </a:xfrm>
          <a:prstGeom prst="rect">
            <a:avLst/>
          </a:prstGeom>
          <a:noFill/>
          <a:ln/>
        </p:spPr>
        <p:txBody>
          <a:bodyPr wrap="square" lIns="0" tIns="0" rIns="0" bIns="0" rtlCol="0" anchor="ctr"/>
          <a:lstStyle/>
          <a:p>
            <a:pPr algn="ctr" indent="0" marL="0">
              <a:buNone/>
            </a:pPr>
            <a:r>
              <a:rPr lang="en-US" sz="1300" dirty="0">
                <a:solidFill>
                  <a:srgbClr val="E6EDF3"/>
                </a:solidFill>
                <a:latin typeface="Courier New" pitchFamily="34" charset="0"/>
                <a:ea typeface="Courier New" pitchFamily="34" charset="-122"/>
                <a:cs typeface="Courier New" pitchFamily="34" charset="-120"/>
              </a:rPr>
              <a:t>memstat.c + monitor.c</a:t>
            </a:r>
            <a:endParaRPr lang="en-US" sz="1300" dirty="0"/>
          </a:p>
        </p:txBody>
      </p:sp>
      <p:sp>
        <p:nvSpPr>
          <p:cNvPr id="26" name="Shape 24"/>
          <p:cNvSpPr/>
          <p:nvPr/>
        </p:nvSpPr>
        <p:spPr>
          <a:xfrm>
            <a:off x="5897880" y="1691640"/>
            <a:ext cx="457200" cy="457200"/>
          </a:xfrm>
          <a:prstGeom prst="ellipse">
            <a:avLst/>
          </a:prstGeom>
          <a:solidFill>
            <a:srgbClr val="1C2333"/>
          </a:solidFill>
          <a:ln w="19050">
            <a:solidFill>
              <a:srgbClr val="39D353"/>
            </a:solidFill>
            <a:prstDash val="solid"/>
          </a:ln>
        </p:spPr>
        <p:txBody>
          <a:bodyPr/>
          <a:p/>
        </p:txBody>
      </p:sp>
      <p:sp>
        <p:nvSpPr>
          <p:cNvPr id="27" name="Text 25"/>
          <p:cNvSpPr/>
          <p:nvPr/>
        </p:nvSpPr>
        <p:spPr>
          <a:xfrm>
            <a:off x="5897880" y="1691640"/>
            <a:ext cx="457200" cy="457200"/>
          </a:xfrm>
          <a:prstGeom prst="rect">
            <a:avLst/>
          </a:prstGeom>
          <a:noFill/>
          <a:ln/>
        </p:spPr>
        <p:txBody>
          <a:bodyPr wrap="square" lIns="0" tIns="0" rIns="0" bIns="0" rtlCol="0" anchor="ctr"/>
          <a:lstStyle/>
          <a:p>
            <a:pPr algn="ctr" indent="0" marL="0">
              <a:buNone/>
            </a:pPr>
            <a:r>
              <a:rPr lang="en-US" sz="1600" b="1" dirty="0">
                <a:solidFill>
                  <a:srgbClr val="39D353"/>
                </a:solidFill>
                <a:latin typeface="Courier New" pitchFamily="34" charset="0"/>
                <a:ea typeface="Courier New" pitchFamily="34" charset="-122"/>
                <a:cs typeface="Courier New" pitchFamily="34" charset="-120"/>
              </a:rPr>
              <a:t>1</a:t>
            </a:r>
            <a:endParaRPr lang="en-US" sz="1600" dirty="0"/>
          </a:p>
        </p:txBody>
      </p:sp>
      <p:sp>
        <p:nvSpPr>
          <p:cNvPr id="28" name="Text 26"/>
          <p:cNvSpPr/>
          <p:nvPr/>
        </p:nvSpPr>
        <p:spPr>
          <a:xfrm>
            <a:off x="6537960" y="1664208"/>
            <a:ext cx="512064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Pluggable built-ins</a:t>
            </a:r>
            <a:endParaRPr lang="en-US" sz="1450" dirty="0"/>
          </a:p>
        </p:txBody>
      </p:sp>
      <p:sp>
        <p:nvSpPr>
          <p:cNvPr id="29" name="Text 27"/>
          <p:cNvSpPr/>
          <p:nvPr/>
        </p:nvSpPr>
        <p:spPr>
          <a:xfrm>
            <a:off x="6537960" y="1984248"/>
            <a:ext cx="5120640" cy="640080"/>
          </a:xfrm>
          <a:prstGeom prst="rect">
            <a:avLst/>
          </a:prstGeom>
          <a:noFill/>
          <a:ln/>
        </p:spPr>
        <p:txBody>
          <a:bodyPr wrap="square" lIns="0" tIns="0" rIns="0" bIns="0" rtlCol="0" anchor="ctr"/>
          <a:lstStyle/>
          <a:p>
            <a:pPr indent="0" marL="0">
              <a:lnSpc>
                <a:spcPct val="115000"/>
              </a:lnSpc>
              <a:buNone/>
            </a:pPr>
            <a:r>
              <a:rPr lang="en-US" sz="1150" dirty="0">
                <a:solidFill>
                  <a:srgbClr val="8B949E"/>
                </a:solidFill>
                <a:latin typeface="Calibri" pitchFamily="34" charset="0"/>
                <a:ea typeface="Calibri" pitchFamily="34" charset="-122"/>
                <a:cs typeface="Calibri" pitchFamily="34" charset="-120"/>
              </a:rPr>
              <a:t>New commands can be added in builtins.c/.h without changing the parser or executor logic.</a:t>
            </a:r>
            <a:endParaRPr lang="en-US" sz="1150" dirty="0"/>
          </a:p>
        </p:txBody>
      </p:sp>
      <p:sp>
        <p:nvSpPr>
          <p:cNvPr id="30" name="Shape 28"/>
          <p:cNvSpPr/>
          <p:nvPr/>
        </p:nvSpPr>
        <p:spPr>
          <a:xfrm>
            <a:off x="5897880" y="2752344"/>
            <a:ext cx="457200" cy="457200"/>
          </a:xfrm>
          <a:prstGeom prst="ellipse">
            <a:avLst/>
          </a:prstGeom>
          <a:solidFill>
            <a:srgbClr val="1C2333"/>
          </a:solidFill>
          <a:ln w="19050">
            <a:solidFill>
              <a:srgbClr val="39D353"/>
            </a:solidFill>
            <a:prstDash val="solid"/>
          </a:ln>
        </p:spPr>
        <p:txBody>
          <a:bodyPr/>
          <a:p/>
        </p:txBody>
      </p:sp>
      <p:sp>
        <p:nvSpPr>
          <p:cNvPr id="31" name="Text 29"/>
          <p:cNvSpPr/>
          <p:nvPr/>
        </p:nvSpPr>
        <p:spPr>
          <a:xfrm>
            <a:off x="5897880" y="2752344"/>
            <a:ext cx="457200" cy="457200"/>
          </a:xfrm>
          <a:prstGeom prst="rect">
            <a:avLst/>
          </a:prstGeom>
          <a:noFill/>
          <a:ln/>
        </p:spPr>
        <p:txBody>
          <a:bodyPr wrap="square" lIns="0" tIns="0" rIns="0" bIns="0" rtlCol="0" anchor="ctr"/>
          <a:lstStyle/>
          <a:p>
            <a:pPr algn="ctr" indent="0" marL="0">
              <a:buNone/>
            </a:pPr>
            <a:r>
              <a:rPr lang="en-US" sz="1600" b="1" dirty="0">
                <a:solidFill>
                  <a:srgbClr val="39D353"/>
                </a:solidFill>
                <a:latin typeface="Courier New" pitchFamily="34" charset="0"/>
                <a:ea typeface="Courier New" pitchFamily="34" charset="-122"/>
                <a:cs typeface="Courier New" pitchFamily="34" charset="-120"/>
              </a:rPr>
              <a:t>2</a:t>
            </a:r>
            <a:endParaRPr lang="en-US" sz="1600" dirty="0"/>
          </a:p>
        </p:txBody>
      </p:sp>
      <p:sp>
        <p:nvSpPr>
          <p:cNvPr id="32" name="Text 30"/>
          <p:cNvSpPr/>
          <p:nvPr/>
        </p:nvSpPr>
        <p:spPr>
          <a:xfrm>
            <a:off x="6537960" y="2724912"/>
            <a:ext cx="512064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Reusable data layer</a:t>
            </a:r>
            <a:endParaRPr lang="en-US" sz="1450" dirty="0"/>
          </a:p>
        </p:txBody>
      </p:sp>
      <p:sp>
        <p:nvSpPr>
          <p:cNvPr id="33" name="Text 31"/>
          <p:cNvSpPr/>
          <p:nvPr/>
        </p:nvSpPr>
        <p:spPr>
          <a:xfrm>
            <a:off x="6537960" y="3044952"/>
            <a:ext cx="5120640" cy="640080"/>
          </a:xfrm>
          <a:prstGeom prst="rect">
            <a:avLst/>
          </a:prstGeom>
          <a:noFill/>
          <a:ln/>
        </p:spPr>
        <p:txBody>
          <a:bodyPr wrap="square" lIns="0" tIns="0" rIns="0" bIns="0" rtlCol="0" anchor="ctr"/>
          <a:lstStyle/>
          <a:p>
            <a:pPr indent="0" marL="0">
              <a:lnSpc>
                <a:spcPct val="115000"/>
              </a:lnSpc>
              <a:buNone/>
            </a:pPr>
            <a:r>
              <a:rPr lang="en-US" sz="1150" dirty="0">
                <a:solidFill>
                  <a:srgbClr val="8B949E"/>
                </a:solidFill>
                <a:latin typeface="Calibri" pitchFamily="34" charset="0"/>
                <a:ea typeface="Calibri" pitchFamily="34" charset="-122"/>
                <a:cs typeface="Calibri" pitchFamily="34" charset="-120"/>
              </a:rPr>
              <a:t>vec.c provides a generic dynamic-array utility used across lexer, parser, and jobs modules.</a:t>
            </a:r>
            <a:endParaRPr lang="en-US" sz="1150" dirty="0"/>
          </a:p>
        </p:txBody>
      </p:sp>
      <p:sp>
        <p:nvSpPr>
          <p:cNvPr id="34" name="Shape 32"/>
          <p:cNvSpPr/>
          <p:nvPr/>
        </p:nvSpPr>
        <p:spPr>
          <a:xfrm>
            <a:off x="5897880" y="3813048"/>
            <a:ext cx="457200" cy="457200"/>
          </a:xfrm>
          <a:prstGeom prst="ellipse">
            <a:avLst/>
          </a:prstGeom>
          <a:solidFill>
            <a:srgbClr val="1C2333"/>
          </a:solidFill>
          <a:ln w="19050">
            <a:solidFill>
              <a:srgbClr val="39D353"/>
            </a:solidFill>
            <a:prstDash val="solid"/>
          </a:ln>
        </p:spPr>
        <p:txBody>
          <a:bodyPr/>
          <a:p/>
        </p:txBody>
      </p:sp>
      <p:sp>
        <p:nvSpPr>
          <p:cNvPr id="35" name="Text 33"/>
          <p:cNvSpPr/>
          <p:nvPr/>
        </p:nvSpPr>
        <p:spPr>
          <a:xfrm>
            <a:off x="5897880" y="3813048"/>
            <a:ext cx="457200" cy="457200"/>
          </a:xfrm>
          <a:prstGeom prst="rect">
            <a:avLst/>
          </a:prstGeom>
          <a:noFill/>
          <a:ln/>
        </p:spPr>
        <p:txBody>
          <a:bodyPr wrap="square" lIns="0" tIns="0" rIns="0" bIns="0" rtlCol="0" anchor="ctr"/>
          <a:lstStyle/>
          <a:p>
            <a:pPr algn="ctr" indent="0" marL="0">
              <a:buNone/>
            </a:pPr>
            <a:r>
              <a:rPr lang="en-US" sz="1600" b="1" dirty="0">
                <a:solidFill>
                  <a:srgbClr val="39D353"/>
                </a:solidFill>
                <a:latin typeface="Courier New" pitchFamily="34" charset="0"/>
                <a:ea typeface="Courier New" pitchFamily="34" charset="-122"/>
                <a:cs typeface="Courier New" pitchFamily="34" charset="-120"/>
              </a:rPr>
              <a:t>3</a:t>
            </a:r>
            <a:endParaRPr lang="en-US" sz="1600" dirty="0"/>
          </a:p>
        </p:txBody>
      </p:sp>
      <p:sp>
        <p:nvSpPr>
          <p:cNvPr id="36" name="Text 34"/>
          <p:cNvSpPr/>
          <p:nvPr/>
        </p:nvSpPr>
        <p:spPr>
          <a:xfrm>
            <a:off x="6537960" y="3785616"/>
            <a:ext cx="512064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Portable by design</a:t>
            </a:r>
            <a:endParaRPr lang="en-US" sz="1450" dirty="0"/>
          </a:p>
        </p:txBody>
      </p:sp>
      <p:sp>
        <p:nvSpPr>
          <p:cNvPr id="37" name="Text 35"/>
          <p:cNvSpPr/>
          <p:nvPr/>
        </p:nvSpPr>
        <p:spPr>
          <a:xfrm>
            <a:off x="6537960" y="4105656"/>
            <a:ext cx="5120640" cy="640080"/>
          </a:xfrm>
          <a:prstGeom prst="rect">
            <a:avLst/>
          </a:prstGeom>
          <a:noFill/>
          <a:ln/>
        </p:spPr>
        <p:txBody>
          <a:bodyPr wrap="square" lIns="0" tIns="0" rIns="0" bIns="0" rtlCol="0" anchor="ctr"/>
          <a:lstStyle/>
          <a:p>
            <a:pPr indent="0" marL="0">
              <a:lnSpc>
                <a:spcPct val="115000"/>
              </a:lnSpc>
              <a:buNone/>
            </a:pPr>
            <a:r>
              <a:rPr lang="en-US" sz="1150" dirty="0">
                <a:solidFill>
                  <a:srgbClr val="8B949E"/>
                </a:solidFill>
                <a:latin typeface="Calibri" pitchFamily="34" charset="0"/>
                <a:ea typeface="Calibri" pitchFamily="34" charset="-122"/>
                <a:cs typeface="Calibri" pitchFamily="34" charset="-120"/>
              </a:rPr>
              <a:t>Implemented and tested on Ubuntu/WSL, since it depends only on standard POSIX system calls.</a:t>
            </a:r>
            <a:endParaRPr lang="en-US" sz="1150" dirty="0"/>
          </a:p>
        </p:txBody>
      </p:sp>
      <p:sp>
        <p:nvSpPr>
          <p:cNvPr id="38" name="Shape 36"/>
          <p:cNvSpPr/>
          <p:nvPr/>
        </p:nvSpPr>
        <p:spPr>
          <a:xfrm>
            <a:off x="5897880" y="4873752"/>
            <a:ext cx="457200" cy="457200"/>
          </a:xfrm>
          <a:prstGeom prst="ellipse">
            <a:avLst/>
          </a:prstGeom>
          <a:solidFill>
            <a:srgbClr val="1C2333"/>
          </a:solidFill>
          <a:ln w="19050">
            <a:solidFill>
              <a:srgbClr val="39D353"/>
            </a:solidFill>
            <a:prstDash val="solid"/>
          </a:ln>
        </p:spPr>
        <p:txBody>
          <a:bodyPr/>
          <a:p/>
        </p:txBody>
      </p:sp>
      <p:sp>
        <p:nvSpPr>
          <p:cNvPr id="39" name="Text 37"/>
          <p:cNvSpPr/>
          <p:nvPr/>
        </p:nvSpPr>
        <p:spPr>
          <a:xfrm>
            <a:off x="5897880" y="4873752"/>
            <a:ext cx="457200" cy="457200"/>
          </a:xfrm>
          <a:prstGeom prst="rect">
            <a:avLst/>
          </a:prstGeom>
          <a:noFill/>
          <a:ln/>
        </p:spPr>
        <p:txBody>
          <a:bodyPr wrap="square" lIns="0" tIns="0" rIns="0" bIns="0" rtlCol="0" anchor="ctr"/>
          <a:lstStyle/>
          <a:p>
            <a:pPr algn="ctr" indent="0" marL="0">
              <a:buNone/>
            </a:pPr>
            <a:r>
              <a:rPr lang="en-US" sz="1600" b="1" dirty="0">
                <a:solidFill>
                  <a:srgbClr val="39D353"/>
                </a:solidFill>
                <a:latin typeface="Courier New" pitchFamily="34" charset="0"/>
                <a:ea typeface="Courier New" pitchFamily="34" charset="-122"/>
                <a:cs typeface="Courier New" pitchFamily="34" charset="-120"/>
              </a:rPr>
              <a:t>4</a:t>
            </a:r>
            <a:endParaRPr lang="en-US" sz="1600" dirty="0"/>
          </a:p>
        </p:txBody>
      </p:sp>
      <p:sp>
        <p:nvSpPr>
          <p:cNvPr id="40" name="Text 38"/>
          <p:cNvSpPr/>
          <p:nvPr/>
        </p:nvSpPr>
        <p:spPr>
          <a:xfrm>
            <a:off x="6537960" y="4846320"/>
            <a:ext cx="512064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Extensible I/O handling</a:t>
            </a:r>
            <a:endParaRPr lang="en-US" sz="1450" dirty="0"/>
          </a:p>
        </p:txBody>
      </p:sp>
      <p:sp>
        <p:nvSpPr>
          <p:cNvPr id="41" name="Text 39"/>
          <p:cNvSpPr/>
          <p:nvPr/>
        </p:nvSpPr>
        <p:spPr>
          <a:xfrm>
            <a:off x="6537960" y="5166360"/>
            <a:ext cx="5120640" cy="640080"/>
          </a:xfrm>
          <a:prstGeom prst="rect">
            <a:avLst/>
          </a:prstGeom>
          <a:noFill/>
          <a:ln/>
        </p:spPr>
        <p:txBody>
          <a:bodyPr wrap="square" lIns="0" tIns="0" rIns="0" bIns="0" rtlCol="0" anchor="ctr"/>
          <a:lstStyle/>
          <a:p>
            <a:pPr indent="0" marL="0">
              <a:lnSpc>
                <a:spcPct val="115000"/>
              </a:lnSpc>
              <a:buNone/>
            </a:pPr>
            <a:r>
              <a:rPr lang="en-US" sz="1150" dirty="0">
                <a:solidFill>
                  <a:srgbClr val="8B949E"/>
                </a:solidFill>
                <a:latin typeface="Calibri" pitchFamily="34" charset="0"/>
                <a:ea typeface="Calibri" pitchFamily="34" charset="-122"/>
                <a:cs typeface="Calibri" pitchFamily="34" charset="-120"/>
              </a:rPr>
              <a:t>Redirection and pipe logic in executor.c is structured to accept new operators with minimal change.</a:t>
            </a:r>
            <a:endParaRPr lang="en-US" sz="1150" dirty="0"/>
          </a:p>
        </p:txBody>
      </p:sp>
      <p:sp>
        <p:nvSpPr>
          <p:cNvPr id="42" name="Text 40"/>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8B949E"/>
                </a:solidFill>
                <a:latin typeface="Courier New" pitchFamily="34" charset="0"/>
                <a:ea typeface="Courier New" pitchFamily="34" charset="-122"/>
                <a:cs typeface="Courier New" pitchFamily="34" charset="-120"/>
              </a:rPr>
              <a:t>EduShell — A Mini Unix-Like Shell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384048"/>
            <a:ext cx="1097280" cy="731520"/>
          </a:xfrm>
          <a:prstGeom prst="rect">
            <a:avLst/>
          </a:prstGeom>
          <a:noFill/>
          <a:ln/>
        </p:spPr>
        <p:txBody>
          <a:bodyPr wrap="square" lIns="0" tIns="0" rIns="0" bIns="0" rtlCol="0" anchor="ctr"/>
          <a:lstStyle/>
          <a:p>
            <a:pPr indent="0" marL="0">
              <a:buNone/>
            </a:pPr>
            <a:r>
              <a:rPr lang="en-US" sz="3400" b="1" dirty="0">
                <a:solidFill>
                  <a:srgbClr val="D8DEE6"/>
                </a:solidFill>
                <a:latin typeface="Courier New" pitchFamily="34" charset="0"/>
                <a:ea typeface="Courier New" pitchFamily="34" charset="-122"/>
                <a:cs typeface="Courier New" pitchFamily="34" charset="-120"/>
              </a:rPr>
              <a:t>03</a:t>
            </a:r>
            <a:endParaRPr lang="en-US" sz="3400" dirty="0"/>
          </a:p>
        </p:txBody>
      </p:sp>
      <p:sp>
        <p:nvSpPr>
          <p:cNvPr id="3" name="Text 1"/>
          <p:cNvSpPr/>
          <p:nvPr/>
        </p:nvSpPr>
        <p:spPr>
          <a:xfrm>
            <a:off x="1371600" y="457200"/>
            <a:ext cx="8686800" cy="548640"/>
          </a:xfrm>
          <a:prstGeom prst="rect">
            <a:avLst/>
          </a:prstGeom>
          <a:noFill/>
          <a:ln/>
        </p:spPr>
        <p:txBody>
          <a:bodyPr wrap="square" lIns="0" tIns="0" rIns="0" bIns="0" rtlCol="0" anchor="ctr"/>
          <a:lstStyle/>
          <a:p>
            <a:pPr indent="0" marL="0">
              <a:buNone/>
            </a:pPr>
            <a:r>
              <a:rPr lang="en-US" sz="2800" b="1" dirty="0">
                <a:solidFill>
                  <a:srgbClr val="10151C"/>
                </a:solidFill>
                <a:latin typeface="Courier New" pitchFamily="34" charset="0"/>
                <a:ea typeface="Courier New" pitchFamily="34" charset="-122"/>
                <a:cs typeface="Courier New" pitchFamily="34" charset="-120"/>
              </a:rPr>
              <a:t>Methodology Evaluation</a:t>
            </a:r>
            <a:endParaRPr lang="en-US" sz="2800" dirty="0"/>
          </a:p>
        </p:txBody>
      </p:sp>
      <p:sp>
        <p:nvSpPr>
          <p:cNvPr id="4" name="Text 2"/>
          <p:cNvSpPr/>
          <p:nvPr/>
        </p:nvSpPr>
        <p:spPr>
          <a:xfrm>
            <a:off x="1371600" y="932688"/>
            <a:ext cx="8686800" cy="320040"/>
          </a:xfrm>
          <a:prstGeom prst="rect">
            <a:avLst/>
          </a:prstGeom>
          <a:noFill/>
          <a:ln/>
        </p:spPr>
        <p:txBody>
          <a:bodyPr wrap="square" lIns="0" tIns="0" rIns="0" bIns="0" rtlCol="0" anchor="ctr"/>
          <a:lstStyle/>
          <a:p>
            <a:pPr indent="0" marL="0">
              <a:buNone/>
            </a:pPr>
            <a:r>
              <a:rPr lang="en-US" sz="1300" i="1" dirty="0">
                <a:solidFill>
                  <a:srgbClr val="586573"/>
                </a:solidFill>
                <a:latin typeface="Calibri" pitchFamily="34" charset="0"/>
                <a:ea typeface="Calibri" pitchFamily="34" charset="-122"/>
                <a:cs typeface="Calibri" pitchFamily="34" charset="-120"/>
              </a:rPr>
              <a:t>Functional testing of core shell features</a:t>
            </a:r>
            <a:endParaRPr lang="en-US" sz="1300" dirty="0"/>
          </a:p>
        </p:txBody>
      </p:sp>
      <p:sp>
        <p:nvSpPr>
          <p:cNvPr id="5" name="Text 3"/>
          <p:cNvSpPr/>
          <p:nvPr/>
        </p:nvSpPr>
        <p:spPr>
          <a:xfrm>
            <a:off x="10561320" y="292608"/>
            <a:ext cx="1371600" cy="274320"/>
          </a:xfrm>
          <a:prstGeom prst="rect">
            <a:avLst/>
          </a:prstGeom>
          <a:noFill/>
          <a:ln/>
        </p:spPr>
        <p:txBody>
          <a:bodyPr wrap="square" lIns="0" tIns="0" rIns="0" bIns="0" rtlCol="0" anchor="ctr"/>
          <a:lstStyle/>
          <a:p>
            <a:pPr algn="r" indent="0" marL="0">
              <a:buNone/>
            </a:pPr>
            <a:r>
              <a:rPr lang="en-US" sz="1100" dirty="0">
                <a:solidFill>
                  <a:srgbClr val="8B949E"/>
                </a:solidFill>
                <a:latin typeface="Courier New" pitchFamily="34" charset="0"/>
                <a:ea typeface="Courier New" pitchFamily="34" charset="-122"/>
                <a:cs typeface="Courier New" pitchFamily="34" charset="-120"/>
              </a:rPr>
              <a:t>[ 04 / 06 ]</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3246120"/>
        </p:xfrm>
        <a:graphic>
          <a:graphicData uri="http://schemas.openxmlformats.org/drawingml/2006/table">
            <a:tbl>
              <a:tblPr/>
              <a:tblGrid>
                <a:gridCol w="2194560"/>
                <a:gridCol w="3017520"/>
                <a:gridCol w="4206240"/>
                <a:gridCol w="182880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1C233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 Command</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1C233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Expected Behavior</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1C233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1C2333"/>
                    </a:solidFill>
                  </a:tcPr>
                </a:tc>
              </a:tr>
              <a:tr h="402336">
                <a:tc>
                  <a:txBody>
                    <a:bodyPr/>
                    <a:lstStyle/>
                    <a:p>
                      <a:pPr indent="0" marL="0">
                        <a:buNone/>
                      </a:pPr>
                      <a:r>
                        <a:rPr lang="en-US" sz="1200" dirty="0">
                          <a:solidFill>
                            <a:srgbClr val="222B36"/>
                          </a:solidFill>
                          <a:latin typeface="Calibri" pitchFamily="34" charset="0"/>
                          <a:ea typeface="Calibri" pitchFamily="34" charset="-122"/>
                          <a:cs typeface="Calibri" pitchFamily="34" charset="-120"/>
                        </a:rPr>
                        <a:t>Command execution</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indent="0" marL="0">
                        <a:buNone/>
                      </a:pPr>
                      <a:r>
                        <a:rPr lang="en-US" sz="1200" dirty="0">
                          <a:solidFill>
                            <a:srgbClr val="222B36"/>
                          </a:solidFill>
                          <a:latin typeface="Courier New" pitchFamily="34" charset="0"/>
                          <a:ea typeface="Courier New" pitchFamily="34" charset="-122"/>
                          <a:cs typeface="Courier New" pitchFamily="34" charset="-120"/>
                        </a:rPr>
                        <a:t>ls -l</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indent="0" marL="0">
                        <a:buNone/>
                      </a:pPr>
                      <a:r>
                        <a:rPr lang="en-US" sz="1200" dirty="0">
                          <a:solidFill>
                            <a:srgbClr val="222B36"/>
                          </a:solidFill>
                          <a:latin typeface="Calibri" pitchFamily="34" charset="0"/>
                          <a:ea typeface="Calibri" pitchFamily="34" charset="-122"/>
                          <a:cs typeface="Calibri" pitchFamily="34" charset="-120"/>
                        </a:rPr>
                        <a:t>Lists directory contents</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A043"/>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222B36"/>
                          </a:solidFill>
                          <a:latin typeface="Calibri" pitchFamily="34" charset="0"/>
                          <a:ea typeface="Calibri" pitchFamily="34" charset="-122"/>
                          <a:cs typeface="Calibri" pitchFamily="34" charset="-120"/>
                        </a:rPr>
                        <a:t>Piping</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indent="0" marL="0">
                        <a:buNone/>
                      </a:pPr>
                      <a:r>
                        <a:rPr lang="en-US" sz="1200" dirty="0">
                          <a:solidFill>
                            <a:srgbClr val="222B36"/>
                          </a:solidFill>
                          <a:latin typeface="Courier New" pitchFamily="34" charset="0"/>
                          <a:ea typeface="Courier New" pitchFamily="34" charset="-122"/>
                          <a:cs typeface="Courier New" pitchFamily="34" charset="-120"/>
                        </a:rPr>
                        <a:t>ls | wc -l</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indent="0" marL="0">
                        <a:buNone/>
                      </a:pPr>
                      <a:r>
                        <a:rPr lang="en-US" sz="1200" dirty="0">
                          <a:solidFill>
                            <a:srgbClr val="222B36"/>
                          </a:solidFill>
                          <a:latin typeface="Calibri" pitchFamily="34" charset="0"/>
                          <a:ea typeface="Calibri" pitchFamily="34" charset="-122"/>
                          <a:cs typeface="Calibri" pitchFamily="34" charset="-120"/>
                        </a:rPr>
                        <a:t>Line count passed via pipe</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A043"/>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222B36"/>
                          </a:solidFill>
                          <a:latin typeface="Calibri" pitchFamily="34" charset="0"/>
                          <a:ea typeface="Calibri" pitchFamily="34" charset="-122"/>
                          <a:cs typeface="Calibri" pitchFamily="34" charset="-120"/>
                        </a:rPr>
                        <a:t>Redirection</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indent="0" marL="0">
                        <a:buNone/>
                      </a:pPr>
                      <a:r>
                        <a:rPr lang="en-US" sz="1200" dirty="0">
                          <a:solidFill>
                            <a:srgbClr val="222B36"/>
                          </a:solidFill>
                          <a:latin typeface="Courier New" pitchFamily="34" charset="0"/>
                          <a:ea typeface="Courier New" pitchFamily="34" charset="-122"/>
                          <a:cs typeface="Courier New" pitchFamily="34" charset="-120"/>
                        </a:rPr>
                        <a:t>echo hi &gt; out.txt</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indent="0" marL="0">
                        <a:buNone/>
                      </a:pPr>
                      <a:r>
                        <a:rPr lang="en-US" sz="1200" dirty="0">
                          <a:solidFill>
                            <a:srgbClr val="222B36"/>
                          </a:solidFill>
                          <a:latin typeface="Calibri" pitchFamily="34" charset="0"/>
                          <a:ea typeface="Calibri" pitchFamily="34" charset="-122"/>
                          <a:cs typeface="Calibri" pitchFamily="34" charset="-120"/>
                        </a:rPr>
                        <a:t>Output written to file</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A043"/>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222B36"/>
                          </a:solidFill>
                          <a:latin typeface="Calibri" pitchFamily="34" charset="0"/>
                          <a:ea typeface="Calibri" pitchFamily="34" charset="-122"/>
                          <a:cs typeface="Calibri" pitchFamily="34" charset="-120"/>
                        </a:rPr>
                        <a:t>Background job</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indent="0" marL="0">
                        <a:buNone/>
                      </a:pPr>
                      <a:r>
                        <a:rPr lang="en-US" sz="1200" dirty="0">
                          <a:solidFill>
                            <a:srgbClr val="222B36"/>
                          </a:solidFill>
                          <a:latin typeface="Courier New" pitchFamily="34" charset="0"/>
                          <a:ea typeface="Courier New" pitchFamily="34" charset="-122"/>
                          <a:cs typeface="Courier New" pitchFamily="34" charset="-120"/>
                        </a:rPr>
                        <a:t>sleep 5 &amp;</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indent="0" marL="0">
                        <a:buNone/>
                      </a:pPr>
                      <a:r>
                        <a:rPr lang="en-US" sz="1200" dirty="0">
                          <a:solidFill>
                            <a:srgbClr val="222B36"/>
                          </a:solidFill>
                          <a:latin typeface="Calibri" pitchFamily="34" charset="0"/>
                          <a:ea typeface="Calibri" pitchFamily="34" charset="-122"/>
                          <a:cs typeface="Calibri" pitchFamily="34" charset="-120"/>
                        </a:rPr>
                        <a:t>Job runs, shell stays responsive</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A043"/>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222B36"/>
                          </a:solidFill>
                          <a:latin typeface="Calibri" pitchFamily="34" charset="0"/>
                          <a:ea typeface="Calibri" pitchFamily="34" charset="-122"/>
                          <a:cs typeface="Calibri" pitchFamily="34" charset="-120"/>
                        </a:rPr>
                        <a:t>Job listing</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indent="0" marL="0">
                        <a:buNone/>
                      </a:pPr>
                      <a:r>
                        <a:rPr lang="en-US" sz="1200" dirty="0">
                          <a:solidFill>
                            <a:srgbClr val="222B36"/>
                          </a:solidFill>
                          <a:latin typeface="Courier New" pitchFamily="34" charset="0"/>
                          <a:ea typeface="Courier New" pitchFamily="34" charset="-122"/>
                          <a:cs typeface="Courier New" pitchFamily="34" charset="-120"/>
                        </a:rPr>
                        <a:t>jobs</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indent="0" marL="0">
                        <a:buNone/>
                      </a:pPr>
                      <a:r>
                        <a:rPr lang="en-US" sz="1200" dirty="0">
                          <a:solidFill>
                            <a:srgbClr val="222B36"/>
                          </a:solidFill>
                          <a:latin typeface="Calibri" pitchFamily="34" charset="0"/>
                          <a:ea typeface="Calibri" pitchFamily="34" charset="-122"/>
                          <a:cs typeface="Calibri" pitchFamily="34" charset="-120"/>
                        </a:rPr>
                        <a:t>Shows running/stopped jobs</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A043"/>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222B36"/>
                          </a:solidFill>
                          <a:latin typeface="Calibri" pitchFamily="34" charset="0"/>
                          <a:ea typeface="Calibri" pitchFamily="34" charset="-122"/>
                          <a:cs typeface="Calibri" pitchFamily="34" charset="-120"/>
                        </a:rPr>
                        <a:t>Signal handling</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indent="0" marL="0">
                        <a:buNone/>
                      </a:pPr>
                      <a:r>
                        <a:rPr lang="en-US" sz="1200" dirty="0">
                          <a:solidFill>
                            <a:srgbClr val="222B36"/>
                          </a:solidFill>
                          <a:latin typeface="Courier New" pitchFamily="34" charset="0"/>
                          <a:ea typeface="Courier New" pitchFamily="34" charset="-122"/>
                          <a:cs typeface="Courier New" pitchFamily="34" charset="-120"/>
                        </a:rPr>
                        <a:t>Ctrl+Z on a job</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indent="0" marL="0">
                        <a:buNone/>
                      </a:pPr>
                      <a:r>
                        <a:rPr lang="en-US" sz="1200" dirty="0">
                          <a:solidFill>
                            <a:srgbClr val="222B36"/>
                          </a:solidFill>
                          <a:latin typeface="Calibri" pitchFamily="34" charset="0"/>
                          <a:ea typeface="Calibri" pitchFamily="34" charset="-122"/>
                          <a:cs typeface="Calibri" pitchFamily="34" charset="-120"/>
                        </a:rPr>
                        <a:t>Job suspended, controlled by fg/bg</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A043"/>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222B36"/>
                          </a:solidFill>
                          <a:latin typeface="Calibri" pitchFamily="34" charset="0"/>
                          <a:ea typeface="Calibri" pitchFamily="34" charset="-122"/>
                          <a:cs typeface="Calibri" pitchFamily="34" charset="-120"/>
                        </a:rPr>
                        <a:t>Memory monitor</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indent="0" marL="0">
                        <a:buNone/>
                      </a:pPr>
                      <a:r>
                        <a:rPr lang="en-US" sz="1200" dirty="0">
                          <a:solidFill>
                            <a:srgbClr val="222B36"/>
                          </a:solidFill>
                          <a:latin typeface="Courier New" pitchFamily="34" charset="0"/>
                          <a:ea typeface="Courier New" pitchFamily="34" charset="-122"/>
                          <a:cs typeface="Courier New" pitchFamily="34" charset="-120"/>
                        </a:rPr>
                        <a:t>memstat</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indent="0" marL="0">
                        <a:buNone/>
                      </a:pPr>
                      <a:r>
                        <a:rPr lang="en-US" sz="1200" dirty="0">
                          <a:solidFill>
                            <a:srgbClr val="222B36"/>
                          </a:solidFill>
                          <a:latin typeface="Calibri" pitchFamily="34" charset="0"/>
                          <a:ea typeface="Calibri" pitchFamily="34" charset="-122"/>
                          <a:cs typeface="Calibri" pitchFamily="34" charset="-120"/>
                        </a:rPr>
                        <a:t>Displays live virtual memory stats</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A043"/>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nchor="ctr">
                    <a:lnL w="9525" cap="flat" cmpd="sng" algn="ctr">
                      <a:solidFill>
                        <a:srgbClr val="E1E6EB"/>
                      </a:solidFill>
                      <a:prstDash val="solid"/>
                      <a:round/>
                      <a:headEnd type="none" w="med" len="med"/>
                      <a:tailEnd type="none" w="med" len="med"/>
                    </a:lnL>
                    <a:lnR w="9525" cap="flat" cmpd="sng" algn="ctr">
                      <a:solidFill>
                        <a:srgbClr val="E1E6EB"/>
                      </a:solidFill>
                      <a:prstDash val="solid"/>
                      <a:round/>
                      <a:headEnd type="none" w="med" len="med"/>
                      <a:tailEnd type="none" w="med" len="med"/>
                    </a:lnR>
                    <a:lnT w="9525" cap="flat" cmpd="sng" algn="ctr">
                      <a:solidFill>
                        <a:srgbClr val="E1E6EB"/>
                      </a:solidFill>
                      <a:prstDash val="solid"/>
                      <a:round/>
                      <a:headEnd type="none" w="med" len="med"/>
                      <a:tailEnd type="none" w="med" len="med"/>
                    </a:lnT>
                    <a:lnB w="9525" cap="flat" cmpd="sng" algn="ctr">
                      <a:solidFill>
                        <a:srgbClr val="E1E6EB"/>
                      </a:solidFill>
                      <a:prstDash val="solid"/>
                      <a:round/>
                      <a:headEnd type="none" w="med" len="med"/>
                      <a:tailEnd type="none" w="med" len="med"/>
                    </a:lnB>
                    <a:solidFill>
                      <a:srgbClr val="FFFFFF"/>
                    </a:solidFill>
                  </a:tcPr>
                </a:tc>
              </a:tr>
            </a:tbl>
          </a:graphicData>
        </a:graphic>
      </p:graphicFrame>
      <p:sp>
        <p:nvSpPr>
          <p:cNvPr id="7" name="Shape 4"/>
          <p:cNvSpPr/>
          <p:nvPr/>
        </p:nvSpPr>
        <p:spPr>
          <a:xfrm>
            <a:off x="457200" y="5166360"/>
            <a:ext cx="3383280" cy="914400"/>
          </a:xfrm>
          <a:prstGeom prst="roundRect">
            <a:avLst>
              <a:gd name="adj" fmla="val 8000"/>
            </a:avLst>
          </a:prstGeom>
          <a:solidFill>
            <a:srgbClr val="FFFFFF"/>
          </a:solidFill>
          <a:ln w="12700">
            <a:solidFill>
              <a:srgbClr val="E1E6EB"/>
            </a:solidFill>
            <a:prstDash val="solid"/>
          </a:ln>
          <a:effectLst>
            <a:outerShdw sx="100000" sy="100000" kx="0" ky="0" algn="bl" rotWithShape="0" blurRad="76200" dist="25400" dir="5400000">
              <a:srgbClr val="1B2430">
                <a:alpha val="10000"/>
              </a:srgbClr>
            </a:outerShdw>
          </a:effectLst>
        </p:spPr>
        <p:txBody>
          <a:bodyPr/>
          <a:p/>
        </p:txBody>
      </p:sp>
      <p:sp>
        <p:nvSpPr>
          <p:cNvPr id="8" name="Text 5"/>
          <p:cNvSpPr/>
          <p:nvPr/>
        </p:nvSpPr>
        <p:spPr>
          <a:xfrm>
            <a:off x="640080" y="5239512"/>
            <a:ext cx="1188720" cy="777240"/>
          </a:xfrm>
          <a:prstGeom prst="rect">
            <a:avLst/>
          </a:prstGeom>
          <a:noFill/>
          <a:ln/>
        </p:spPr>
        <p:txBody>
          <a:bodyPr wrap="square" lIns="0" tIns="0" rIns="0" bIns="0" rtlCol="0" anchor="ctr"/>
          <a:lstStyle/>
          <a:p>
            <a:pPr algn="l" indent="0" marL="0">
              <a:buNone/>
            </a:pPr>
            <a:r>
              <a:rPr lang="en-US" sz="3000" b="1" dirty="0">
                <a:solidFill>
                  <a:srgbClr val="2EA043"/>
                </a:solidFill>
                <a:latin typeface="Courier New" pitchFamily="34" charset="0"/>
                <a:ea typeface="Courier New" pitchFamily="34" charset="-122"/>
                <a:cs typeface="Courier New" pitchFamily="34" charset="-120"/>
              </a:rPr>
              <a:t>10</a:t>
            </a:r>
            <a:endParaRPr lang="en-US" sz="3000" dirty="0"/>
          </a:p>
        </p:txBody>
      </p:sp>
      <p:sp>
        <p:nvSpPr>
          <p:cNvPr id="9" name="Text 6"/>
          <p:cNvSpPr/>
          <p:nvPr/>
        </p:nvSpPr>
        <p:spPr>
          <a:xfrm>
            <a:off x="1828800" y="5166360"/>
            <a:ext cx="1828800" cy="914400"/>
          </a:xfrm>
          <a:prstGeom prst="rect">
            <a:avLst/>
          </a:prstGeom>
          <a:noFill/>
          <a:ln/>
        </p:spPr>
        <p:txBody>
          <a:bodyPr wrap="square" lIns="0" tIns="0" rIns="0" bIns="0" rtlCol="0" anchor="ctr"/>
          <a:lstStyle/>
          <a:p>
            <a:pPr algn="l" indent="0" marL="0">
              <a:buNone/>
            </a:pPr>
            <a:r>
              <a:rPr lang="en-US" sz="1250" dirty="0">
                <a:solidFill>
                  <a:srgbClr val="434C56"/>
                </a:solidFill>
                <a:latin typeface="Calibri" pitchFamily="34" charset="0"/>
                <a:ea typeface="Calibri" pitchFamily="34" charset="-122"/>
                <a:cs typeface="Calibri" pitchFamily="34" charset="-120"/>
              </a:rPr>
              <a:t>src/ modules</a:t>
            </a:r>
            <a:endParaRPr lang="en-US" sz="1250" dirty="0"/>
          </a:p>
        </p:txBody>
      </p:sp>
      <p:sp>
        <p:nvSpPr>
          <p:cNvPr id="10" name="Shape 7"/>
          <p:cNvSpPr/>
          <p:nvPr/>
        </p:nvSpPr>
        <p:spPr>
          <a:xfrm>
            <a:off x="4206240" y="5166360"/>
            <a:ext cx="3383280" cy="914400"/>
          </a:xfrm>
          <a:prstGeom prst="roundRect">
            <a:avLst>
              <a:gd name="adj" fmla="val 8000"/>
            </a:avLst>
          </a:prstGeom>
          <a:solidFill>
            <a:srgbClr val="FFFFFF"/>
          </a:solidFill>
          <a:ln w="12700">
            <a:solidFill>
              <a:srgbClr val="E1E6EB"/>
            </a:solidFill>
            <a:prstDash val="solid"/>
          </a:ln>
          <a:effectLst>
            <a:outerShdw sx="100000" sy="100000" kx="0" ky="0" algn="bl" rotWithShape="0" blurRad="76200" dist="25400" dir="5400000">
              <a:srgbClr val="1B2430">
                <a:alpha val="10000"/>
              </a:srgbClr>
            </a:outerShdw>
          </a:effectLst>
        </p:spPr>
        <p:txBody>
          <a:bodyPr/>
          <a:p/>
        </p:txBody>
      </p:sp>
      <p:sp>
        <p:nvSpPr>
          <p:cNvPr id="11" name="Text 8"/>
          <p:cNvSpPr/>
          <p:nvPr/>
        </p:nvSpPr>
        <p:spPr>
          <a:xfrm>
            <a:off x="4389120" y="5239512"/>
            <a:ext cx="1188720" cy="777240"/>
          </a:xfrm>
          <a:prstGeom prst="rect">
            <a:avLst/>
          </a:prstGeom>
          <a:noFill/>
          <a:ln/>
        </p:spPr>
        <p:txBody>
          <a:bodyPr wrap="square" lIns="0" tIns="0" rIns="0" bIns="0" rtlCol="0" anchor="ctr"/>
          <a:lstStyle/>
          <a:p>
            <a:pPr algn="l" indent="0" marL="0">
              <a:buNone/>
            </a:pPr>
            <a:r>
              <a:rPr lang="en-US" sz="3000" b="1" dirty="0">
                <a:solidFill>
                  <a:srgbClr val="2EA043"/>
                </a:solidFill>
                <a:latin typeface="Courier New" pitchFamily="34" charset="0"/>
                <a:ea typeface="Courier New" pitchFamily="34" charset="-122"/>
                <a:cs typeface="Courier New" pitchFamily="34" charset="-120"/>
              </a:rPr>
              <a:t>9</a:t>
            </a:r>
            <a:endParaRPr lang="en-US" sz="3000" dirty="0"/>
          </a:p>
        </p:txBody>
      </p:sp>
      <p:sp>
        <p:nvSpPr>
          <p:cNvPr id="12" name="Text 9"/>
          <p:cNvSpPr/>
          <p:nvPr/>
        </p:nvSpPr>
        <p:spPr>
          <a:xfrm>
            <a:off x="5577840" y="5166360"/>
            <a:ext cx="1828800" cy="914400"/>
          </a:xfrm>
          <a:prstGeom prst="rect">
            <a:avLst/>
          </a:prstGeom>
          <a:noFill/>
          <a:ln/>
        </p:spPr>
        <p:txBody>
          <a:bodyPr wrap="square" lIns="0" tIns="0" rIns="0" bIns="0" rtlCol="0" anchor="ctr"/>
          <a:lstStyle/>
          <a:p>
            <a:pPr algn="l" indent="0" marL="0">
              <a:buNone/>
            </a:pPr>
            <a:r>
              <a:rPr lang="en-US" sz="1250" dirty="0">
                <a:solidFill>
                  <a:srgbClr val="434C56"/>
                </a:solidFill>
                <a:latin typeface="Calibri" pitchFamily="34" charset="0"/>
                <a:ea typeface="Calibri" pitchFamily="34" charset="-122"/>
                <a:cs typeface="Calibri" pitchFamily="34" charset="-120"/>
              </a:rPr>
              <a:t>include/ headers</a:t>
            </a:r>
            <a:endParaRPr lang="en-US" sz="1250" dirty="0"/>
          </a:p>
        </p:txBody>
      </p:sp>
      <p:sp>
        <p:nvSpPr>
          <p:cNvPr id="13" name="Shape 10"/>
          <p:cNvSpPr/>
          <p:nvPr/>
        </p:nvSpPr>
        <p:spPr>
          <a:xfrm>
            <a:off x="7955280" y="5166360"/>
            <a:ext cx="3383280" cy="914400"/>
          </a:xfrm>
          <a:prstGeom prst="roundRect">
            <a:avLst>
              <a:gd name="adj" fmla="val 8000"/>
            </a:avLst>
          </a:prstGeom>
          <a:solidFill>
            <a:srgbClr val="FFFFFF"/>
          </a:solidFill>
          <a:ln w="12700">
            <a:solidFill>
              <a:srgbClr val="E1E6EB"/>
            </a:solidFill>
            <a:prstDash val="solid"/>
          </a:ln>
          <a:effectLst>
            <a:outerShdw sx="100000" sy="100000" kx="0" ky="0" algn="bl" rotWithShape="0" blurRad="76200" dist="25400" dir="5400000">
              <a:srgbClr val="1B2430">
                <a:alpha val="10000"/>
              </a:srgbClr>
            </a:outerShdw>
          </a:effectLst>
        </p:spPr>
        <p:txBody>
          <a:bodyPr/>
          <a:p/>
        </p:txBody>
      </p:sp>
      <p:sp>
        <p:nvSpPr>
          <p:cNvPr id="14" name="Text 11"/>
          <p:cNvSpPr/>
          <p:nvPr/>
        </p:nvSpPr>
        <p:spPr>
          <a:xfrm>
            <a:off x="8138160" y="5239512"/>
            <a:ext cx="1188720" cy="777240"/>
          </a:xfrm>
          <a:prstGeom prst="rect">
            <a:avLst/>
          </a:prstGeom>
          <a:noFill/>
          <a:ln/>
        </p:spPr>
        <p:txBody>
          <a:bodyPr wrap="square" lIns="0" tIns="0" rIns="0" bIns="0" rtlCol="0" anchor="ctr"/>
          <a:lstStyle/>
          <a:p>
            <a:pPr algn="l" indent="0" marL="0">
              <a:buNone/>
            </a:pPr>
            <a:r>
              <a:rPr lang="en-US" sz="3000" b="1" dirty="0">
                <a:solidFill>
                  <a:srgbClr val="2EA043"/>
                </a:solidFill>
                <a:latin typeface="Courier New" pitchFamily="34" charset="0"/>
                <a:ea typeface="Courier New" pitchFamily="34" charset="-122"/>
                <a:cs typeface="Courier New" pitchFamily="34" charset="-120"/>
              </a:rPr>
              <a:t>7/7</a:t>
            </a:r>
            <a:endParaRPr lang="en-US" sz="3000" dirty="0"/>
          </a:p>
        </p:txBody>
      </p:sp>
      <p:sp>
        <p:nvSpPr>
          <p:cNvPr id="15" name="Text 12"/>
          <p:cNvSpPr/>
          <p:nvPr/>
        </p:nvSpPr>
        <p:spPr>
          <a:xfrm>
            <a:off x="9326880" y="5166360"/>
            <a:ext cx="1828800" cy="914400"/>
          </a:xfrm>
          <a:prstGeom prst="rect">
            <a:avLst/>
          </a:prstGeom>
          <a:noFill/>
          <a:ln/>
        </p:spPr>
        <p:txBody>
          <a:bodyPr wrap="square" lIns="0" tIns="0" rIns="0" bIns="0" rtlCol="0" anchor="ctr"/>
          <a:lstStyle/>
          <a:p>
            <a:pPr algn="l" indent="0" marL="0">
              <a:buNone/>
            </a:pPr>
            <a:r>
              <a:rPr lang="en-US" sz="1250" dirty="0">
                <a:solidFill>
                  <a:srgbClr val="434C56"/>
                </a:solidFill>
                <a:latin typeface="Calibri" pitchFamily="34" charset="0"/>
                <a:ea typeface="Calibri" pitchFamily="34" charset="-122"/>
                <a:cs typeface="Calibri" pitchFamily="34" charset="-120"/>
              </a:rPr>
              <a:t>core tests passed</a:t>
            </a:r>
            <a:endParaRPr lang="en-US" sz="1250" dirty="0"/>
          </a:p>
        </p:txBody>
      </p:sp>
      <p:sp>
        <p:nvSpPr>
          <p:cNvPr id="16" name="Text 13"/>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8B949E"/>
                </a:solidFill>
                <a:latin typeface="Courier New" pitchFamily="34" charset="0"/>
                <a:ea typeface="Courier New" pitchFamily="34" charset="-122"/>
                <a:cs typeface="Courier New" pitchFamily="34" charset="-120"/>
              </a:rPr>
              <a:t>EduShell — A Mini Unix-Like Shell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384048"/>
            <a:ext cx="1097280" cy="731520"/>
          </a:xfrm>
          <a:prstGeom prst="rect">
            <a:avLst/>
          </a:prstGeom>
          <a:noFill/>
          <a:ln/>
        </p:spPr>
        <p:txBody>
          <a:bodyPr wrap="square" lIns="0" tIns="0" rIns="0" bIns="0" rtlCol="0" anchor="ctr"/>
          <a:lstStyle/>
          <a:p>
            <a:pPr indent="0" marL="0">
              <a:buNone/>
            </a:pPr>
            <a:r>
              <a:rPr lang="en-US" sz="3400" b="1" dirty="0">
                <a:solidFill>
                  <a:srgbClr val="222B36"/>
                </a:solidFill>
                <a:latin typeface="Courier New" pitchFamily="34" charset="0"/>
                <a:ea typeface="Courier New" pitchFamily="34" charset="-122"/>
                <a:cs typeface="Courier New" pitchFamily="34" charset="-120"/>
              </a:rPr>
              <a:t>04</a:t>
            </a:r>
            <a:endParaRPr lang="en-US" sz="3400" dirty="0"/>
          </a:p>
        </p:txBody>
      </p:sp>
      <p:sp>
        <p:nvSpPr>
          <p:cNvPr id="3" name="Text 1"/>
          <p:cNvSpPr/>
          <p:nvPr/>
        </p:nvSpPr>
        <p:spPr>
          <a:xfrm>
            <a:off x="1371600" y="457200"/>
            <a:ext cx="8686800" cy="548640"/>
          </a:xfrm>
          <a:prstGeom prst="rect">
            <a:avLst/>
          </a:prstGeom>
          <a:noFill/>
          <a:ln/>
        </p:spPr>
        <p:txBody>
          <a:bodyPr wrap="square" lIns="0" tIns="0" rIns="0" bIns="0" rtlCol="0" anchor="ctr"/>
          <a:lstStyle/>
          <a:p>
            <a:pPr indent="0" marL="0">
              <a:buNone/>
            </a:pPr>
            <a:r>
              <a:rPr lang="en-US" sz="2800" b="1" dirty="0">
                <a:solidFill>
                  <a:srgbClr val="FFFFFF"/>
                </a:solidFill>
                <a:latin typeface="Courier New" pitchFamily="34" charset="0"/>
                <a:ea typeface="Courier New" pitchFamily="34" charset="-122"/>
                <a:cs typeface="Courier New" pitchFamily="34" charset="-120"/>
              </a:rPr>
              <a:t>Dissemination and Accessibility</a:t>
            </a:r>
            <a:endParaRPr lang="en-US" sz="2800" dirty="0"/>
          </a:p>
        </p:txBody>
      </p:sp>
      <p:sp>
        <p:nvSpPr>
          <p:cNvPr id="4" name="Text 2"/>
          <p:cNvSpPr/>
          <p:nvPr/>
        </p:nvSpPr>
        <p:spPr>
          <a:xfrm>
            <a:off x="1371600" y="932688"/>
            <a:ext cx="8686800" cy="320040"/>
          </a:xfrm>
          <a:prstGeom prst="rect">
            <a:avLst/>
          </a:prstGeom>
          <a:noFill/>
          <a:ln/>
        </p:spPr>
        <p:txBody>
          <a:bodyPr wrap="square" lIns="0" tIns="0" rIns="0" bIns="0" rtlCol="0" anchor="ctr"/>
          <a:lstStyle/>
          <a:p>
            <a:pPr indent="0" marL="0">
              <a:buNone/>
            </a:pPr>
            <a:r>
              <a:rPr lang="en-US" sz="1300" i="1" dirty="0">
                <a:solidFill>
                  <a:srgbClr val="8B949E"/>
                </a:solidFill>
                <a:latin typeface="Calibri" pitchFamily="34" charset="0"/>
                <a:ea typeface="Calibri" pitchFamily="34" charset="-122"/>
                <a:cs typeface="Calibri" pitchFamily="34" charset="-120"/>
              </a:rPr>
              <a:t>How the project can be shared, read, and reused</a:t>
            </a:r>
            <a:endParaRPr lang="en-US" sz="1300" dirty="0"/>
          </a:p>
        </p:txBody>
      </p:sp>
      <p:sp>
        <p:nvSpPr>
          <p:cNvPr id="5" name="Text 3"/>
          <p:cNvSpPr/>
          <p:nvPr/>
        </p:nvSpPr>
        <p:spPr>
          <a:xfrm>
            <a:off x="10561320" y="292608"/>
            <a:ext cx="1371600" cy="274320"/>
          </a:xfrm>
          <a:prstGeom prst="rect">
            <a:avLst/>
          </a:prstGeom>
          <a:noFill/>
          <a:ln/>
        </p:spPr>
        <p:txBody>
          <a:bodyPr wrap="square" lIns="0" tIns="0" rIns="0" bIns="0" rtlCol="0" anchor="ctr"/>
          <a:lstStyle/>
          <a:p>
            <a:pPr algn="r" indent="0" marL="0">
              <a:buNone/>
            </a:pPr>
            <a:r>
              <a:rPr lang="en-US" sz="1100" dirty="0">
                <a:solidFill>
                  <a:srgbClr val="8B949E"/>
                </a:solidFill>
                <a:latin typeface="Courier New" pitchFamily="34" charset="0"/>
                <a:ea typeface="Courier New" pitchFamily="34" charset="-122"/>
                <a:cs typeface="Courier New" pitchFamily="34" charset="-120"/>
              </a:rPr>
              <a:t>[ 05 / 06 ]</a:t>
            </a:r>
            <a:endParaRPr lang="en-US" sz="1100" dirty="0"/>
          </a:p>
        </p:txBody>
      </p:sp>
      <p:sp>
        <p:nvSpPr>
          <p:cNvPr id="6" name="Shape 4"/>
          <p:cNvSpPr/>
          <p:nvPr/>
        </p:nvSpPr>
        <p:spPr>
          <a:xfrm>
            <a:off x="457200" y="1691640"/>
            <a:ext cx="5074920" cy="2011680"/>
          </a:xfrm>
          <a:prstGeom prst="roundRect">
            <a:avLst>
              <a:gd name="adj" fmla="val 3636"/>
            </a:avLst>
          </a:prstGeom>
          <a:solidFill>
            <a:srgbClr val="161B22"/>
          </a:solidFill>
          <a:ln w="12700">
            <a:solidFill>
              <a:srgbClr val="30363D"/>
            </a:solidFill>
            <a:prstDash val="solid"/>
          </a:ln>
        </p:spPr>
        <p:txBody>
          <a:bodyPr/>
          <a:p/>
        </p:txBody>
      </p:sp>
      <p:sp>
        <p:nvSpPr>
          <p:cNvPr id="7" name="Shape 5"/>
          <p:cNvSpPr/>
          <p:nvPr/>
        </p:nvSpPr>
        <p:spPr>
          <a:xfrm>
            <a:off x="731520" y="1965960"/>
            <a:ext cx="502920" cy="502920"/>
          </a:xfrm>
          <a:prstGeom prst="ellipse">
            <a:avLst/>
          </a:prstGeom>
          <a:solidFill>
            <a:srgbClr val="1C2333"/>
          </a:solidFill>
          <a:ln w="19050">
            <a:solidFill>
              <a:srgbClr val="39D353"/>
            </a:solidFill>
            <a:prstDash val="solid"/>
          </a:ln>
        </p:spPr>
        <p:txBody>
          <a:bodyPr/>
          <a:p/>
        </p:txBody>
      </p:sp>
      <p:sp>
        <p:nvSpPr>
          <p:cNvPr id="8" name="Text 6"/>
          <p:cNvSpPr/>
          <p:nvPr/>
        </p:nvSpPr>
        <p:spPr>
          <a:xfrm>
            <a:off x="731520" y="1965960"/>
            <a:ext cx="502920" cy="502920"/>
          </a:xfrm>
          <a:prstGeom prst="rect">
            <a:avLst/>
          </a:prstGeom>
          <a:noFill/>
          <a:ln/>
        </p:spPr>
        <p:txBody>
          <a:bodyPr wrap="square" lIns="0" tIns="0" rIns="0" bIns="0" rtlCol="0" anchor="ctr"/>
          <a:lstStyle/>
          <a:p>
            <a:pPr algn="ctr" indent="0" marL="0">
              <a:buNone/>
            </a:pPr>
            <a:r>
              <a:rPr lang="en-US" sz="1600" b="1" dirty="0">
                <a:solidFill>
                  <a:srgbClr val="39D353"/>
                </a:solidFill>
                <a:latin typeface="Courier New" pitchFamily="34" charset="0"/>
                <a:ea typeface="Courier New" pitchFamily="34" charset="-122"/>
                <a:cs typeface="Courier New" pitchFamily="34" charset="-120"/>
              </a:rPr>
              <a:t>1</a:t>
            </a:r>
            <a:endParaRPr lang="en-US" sz="1600" dirty="0"/>
          </a:p>
        </p:txBody>
      </p:sp>
      <p:sp>
        <p:nvSpPr>
          <p:cNvPr id="9" name="Text 7"/>
          <p:cNvSpPr/>
          <p:nvPr/>
        </p:nvSpPr>
        <p:spPr>
          <a:xfrm>
            <a:off x="1417320" y="1920240"/>
            <a:ext cx="3840480" cy="594360"/>
          </a:xfrm>
          <a:prstGeom prst="rect">
            <a:avLst/>
          </a:prstGeom>
          <a:noFill/>
          <a:ln/>
        </p:spPr>
        <p:txBody>
          <a:bodyPr wrap="square" lIns="0" tIns="0" rIns="0" bIns="0" rtlCol="0" anchor="t"/>
          <a:lstStyle/>
          <a:p>
            <a:pPr algn="l" indent="0" marL="0">
              <a:buNone/>
            </a:pPr>
            <a:r>
              <a:rPr lang="en-US" sz="1450" b="1" dirty="0">
                <a:solidFill>
                  <a:srgbClr val="FFFFFF"/>
                </a:solidFill>
                <a:latin typeface="Calibri" pitchFamily="34" charset="0"/>
                <a:ea typeface="Calibri" pitchFamily="34" charset="-122"/>
                <a:cs typeface="Calibri" pitchFamily="34" charset="-120"/>
              </a:rPr>
              <a:t>Shareable project structure</a:t>
            </a:r>
            <a:endParaRPr lang="en-US" sz="1450" dirty="0"/>
          </a:p>
        </p:txBody>
      </p:sp>
      <p:sp>
        <p:nvSpPr>
          <p:cNvPr id="10" name="Text 8"/>
          <p:cNvSpPr/>
          <p:nvPr/>
        </p:nvSpPr>
        <p:spPr>
          <a:xfrm>
            <a:off x="731520" y="2606040"/>
            <a:ext cx="4526280" cy="914400"/>
          </a:xfrm>
          <a:prstGeom prst="rect">
            <a:avLst/>
          </a:prstGeom>
          <a:noFill/>
          <a:ln/>
        </p:spPr>
        <p:txBody>
          <a:bodyPr wrap="square" lIns="0" tIns="0" rIns="0" bIns="0" rtlCol="0" anchor="t"/>
          <a:lstStyle/>
          <a:p>
            <a:pPr algn="l" indent="0" marL="0">
              <a:lnSpc>
                <a:spcPct val="115000"/>
              </a:lnSpc>
              <a:buNone/>
            </a:pPr>
            <a:r>
              <a:rPr lang="en-US" sz="1150" dirty="0">
                <a:solidFill>
                  <a:srgbClr val="8B949E"/>
                </a:solidFill>
                <a:latin typeface="Calibri" pitchFamily="34" charset="0"/>
                <a:ea typeface="Calibri" pitchFamily="34" charset="-122"/>
                <a:cs typeface="Calibri" pitchFamily="34" charset="-120"/>
              </a:rPr>
              <a:t>Standard src/ and include/ layout means the project can be shared through GitHub and built with a single gcc/make command.</a:t>
            </a:r>
            <a:endParaRPr lang="en-US" sz="1150" dirty="0"/>
          </a:p>
        </p:txBody>
      </p:sp>
      <p:sp>
        <p:nvSpPr>
          <p:cNvPr id="11" name="Shape 9"/>
          <p:cNvSpPr/>
          <p:nvPr/>
        </p:nvSpPr>
        <p:spPr>
          <a:xfrm>
            <a:off x="5852160" y="1691640"/>
            <a:ext cx="5074920" cy="2011680"/>
          </a:xfrm>
          <a:prstGeom prst="roundRect">
            <a:avLst>
              <a:gd name="adj" fmla="val 3636"/>
            </a:avLst>
          </a:prstGeom>
          <a:solidFill>
            <a:srgbClr val="161B22"/>
          </a:solidFill>
          <a:ln w="12700">
            <a:solidFill>
              <a:srgbClr val="30363D"/>
            </a:solidFill>
            <a:prstDash val="solid"/>
          </a:ln>
        </p:spPr>
        <p:txBody>
          <a:bodyPr/>
          <a:p/>
        </p:txBody>
      </p:sp>
      <p:sp>
        <p:nvSpPr>
          <p:cNvPr id="12" name="Shape 10"/>
          <p:cNvSpPr/>
          <p:nvPr/>
        </p:nvSpPr>
        <p:spPr>
          <a:xfrm>
            <a:off x="6126480" y="1965960"/>
            <a:ext cx="502920" cy="502920"/>
          </a:xfrm>
          <a:prstGeom prst="ellipse">
            <a:avLst/>
          </a:prstGeom>
          <a:solidFill>
            <a:srgbClr val="1C2333"/>
          </a:solidFill>
          <a:ln w="19050">
            <a:solidFill>
              <a:srgbClr val="39D353"/>
            </a:solidFill>
            <a:prstDash val="solid"/>
          </a:ln>
        </p:spPr>
        <p:txBody>
          <a:bodyPr/>
          <a:p/>
        </p:txBody>
      </p:sp>
      <p:sp>
        <p:nvSpPr>
          <p:cNvPr id="13" name="Text 11"/>
          <p:cNvSpPr/>
          <p:nvPr/>
        </p:nvSpPr>
        <p:spPr>
          <a:xfrm>
            <a:off x="6126480" y="1965960"/>
            <a:ext cx="502920" cy="502920"/>
          </a:xfrm>
          <a:prstGeom prst="rect">
            <a:avLst/>
          </a:prstGeom>
          <a:noFill/>
          <a:ln/>
        </p:spPr>
        <p:txBody>
          <a:bodyPr wrap="square" lIns="0" tIns="0" rIns="0" bIns="0" rtlCol="0" anchor="ctr"/>
          <a:lstStyle/>
          <a:p>
            <a:pPr algn="ctr" indent="0" marL="0">
              <a:buNone/>
            </a:pPr>
            <a:r>
              <a:rPr lang="en-US" sz="1600" b="1" dirty="0">
                <a:solidFill>
                  <a:srgbClr val="39D353"/>
                </a:solidFill>
                <a:latin typeface="Courier New" pitchFamily="34" charset="0"/>
                <a:ea typeface="Courier New" pitchFamily="34" charset="-122"/>
                <a:cs typeface="Courier New" pitchFamily="34" charset="-120"/>
              </a:rPr>
              <a:t>2</a:t>
            </a:r>
            <a:endParaRPr lang="en-US" sz="1600" dirty="0"/>
          </a:p>
        </p:txBody>
      </p:sp>
      <p:sp>
        <p:nvSpPr>
          <p:cNvPr id="14" name="Text 12"/>
          <p:cNvSpPr/>
          <p:nvPr/>
        </p:nvSpPr>
        <p:spPr>
          <a:xfrm>
            <a:off x="6812280" y="1920240"/>
            <a:ext cx="3840480" cy="594360"/>
          </a:xfrm>
          <a:prstGeom prst="rect">
            <a:avLst/>
          </a:prstGeom>
          <a:noFill/>
          <a:ln/>
        </p:spPr>
        <p:txBody>
          <a:bodyPr wrap="square" lIns="0" tIns="0" rIns="0" bIns="0" rtlCol="0" anchor="t"/>
          <a:lstStyle/>
          <a:p>
            <a:pPr algn="l" indent="0" marL="0">
              <a:buNone/>
            </a:pPr>
            <a:r>
              <a:rPr lang="en-US" sz="1450" b="1" dirty="0">
                <a:solidFill>
                  <a:srgbClr val="FFFFFF"/>
                </a:solidFill>
                <a:latin typeface="Calibri" pitchFamily="34" charset="0"/>
                <a:ea typeface="Calibri" pitchFamily="34" charset="-122"/>
                <a:cs typeface="Calibri" pitchFamily="34" charset="-120"/>
              </a:rPr>
              <a:t>Readable, modular codebase</a:t>
            </a:r>
            <a:endParaRPr lang="en-US" sz="1450" dirty="0"/>
          </a:p>
        </p:txBody>
      </p:sp>
      <p:sp>
        <p:nvSpPr>
          <p:cNvPr id="15" name="Text 13"/>
          <p:cNvSpPr/>
          <p:nvPr/>
        </p:nvSpPr>
        <p:spPr>
          <a:xfrm>
            <a:off x="6126480" y="2606040"/>
            <a:ext cx="4526280" cy="914400"/>
          </a:xfrm>
          <a:prstGeom prst="rect">
            <a:avLst/>
          </a:prstGeom>
          <a:noFill/>
          <a:ln/>
        </p:spPr>
        <p:txBody>
          <a:bodyPr wrap="square" lIns="0" tIns="0" rIns="0" bIns="0" rtlCol="0" anchor="t"/>
          <a:lstStyle/>
          <a:p>
            <a:pPr algn="l" indent="0" marL="0">
              <a:lnSpc>
                <a:spcPct val="115000"/>
              </a:lnSpc>
              <a:buNone/>
            </a:pPr>
            <a:r>
              <a:rPr lang="en-US" sz="1150" dirty="0">
                <a:solidFill>
                  <a:srgbClr val="8B949E"/>
                </a:solidFill>
                <a:latin typeface="Calibri" pitchFamily="34" charset="0"/>
                <a:ea typeface="Calibri" pitchFamily="34" charset="-122"/>
                <a:cs typeface="Calibri" pitchFamily="34" charset="-120"/>
              </a:rPr>
              <a:t>One header per source file (builtins.h, executor.h, jobs.h, etc.) lets other students navigate and understand a module without reading the whole project.</a:t>
            </a:r>
            <a:endParaRPr lang="en-US" sz="1150" dirty="0"/>
          </a:p>
        </p:txBody>
      </p:sp>
      <p:sp>
        <p:nvSpPr>
          <p:cNvPr id="16" name="Shape 14"/>
          <p:cNvSpPr/>
          <p:nvPr/>
        </p:nvSpPr>
        <p:spPr>
          <a:xfrm>
            <a:off x="457200" y="3931920"/>
            <a:ext cx="5074920" cy="2011680"/>
          </a:xfrm>
          <a:prstGeom prst="roundRect">
            <a:avLst>
              <a:gd name="adj" fmla="val 3636"/>
            </a:avLst>
          </a:prstGeom>
          <a:solidFill>
            <a:srgbClr val="161B22"/>
          </a:solidFill>
          <a:ln w="12700">
            <a:solidFill>
              <a:srgbClr val="30363D"/>
            </a:solidFill>
            <a:prstDash val="solid"/>
          </a:ln>
        </p:spPr>
        <p:txBody>
          <a:bodyPr/>
          <a:p/>
        </p:txBody>
      </p:sp>
      <p:sp>
        <p:nvSpPr>
          <p:cNvPr id="17" name="Shape 15"/>
          <p:cNvSpPr/>
          <p:nvPr/>
        </p:nvSpPr>
        <p:spPr>
          <a:xfrm>
            <a:off x="731520" y="4206240"/>
            <a:ext cx="502920" cy="502920"/>
          </a:xfrm>
          <a:prstGeom prst="ellipse">
            <a:avLst/>
          </a:prstGeom>
          <a:solidFill>
            <a:srgbClr val="1C2333"/>
          </a:solidFill>
          <a:ln w="19050">
            <a:solidFill>
              <a:srgbClr val="39D353"/>
            </a:solidFill>
            <a:prstDash val="solid"/>
          </a:ln>
        </p:spPr>
        <p:txBody>
          <a:bodyPr/>
          <a:p/>
        </p:txBody>
      </p:sp>
      <p:sp>
        <p:nvSpPr>
          <p:cNvPr id="18" name="Text 16"/>
          <p:cNvSpPr/>
          <p:nvPr/>
        </p:nvSpPr>
        <p:spPr>
          <a:xfrm>
            <a:off x="731520" y="4206240"/>
            <a:ext cx="502920" cy="502920"/>
          </a:xfrm>
          <a:prstGeom prst="rect">
            <a:avLst/>
          </a:prstGeom>
          <a:noFill/>
          <a:ln/>
        </p:spPr>
        <p:txBody>
          <a:bodyPr wrap="square" lIns="0" tIns="0" rIns="0" bIns="0" rtlCol="0" anchor="ctr"/>
          <a:lstStyle/>
          <a:p>
            <a:pPr algn="ctr" indent="0" marL="0">
              <a:buNone/>
            </a:pPr>
            <a:r>
              <a:rPr lang="en-US" sz="1600" b="1" dirty="0">
                <a:solidFill>
                  <a:srgbClr val="39D353"/>
                </a:solidFill>
                <a:latin typeface="Courier New" pitchFamily="34" charset="0"/>
                <a:ea typeface="Courier New" pitchFamily="34" charset="-122"/>
                <a:cs typeface="Courier New" pitchFamily="34" charset="-120"/>
              </a:rPr>
              <a:t>3</a:t>
            </a:r>
            <a:endParaRPr lang="en-US" sz="1600" dirty="0"/>
          </a:p>
        </p:txBody>
      </p:sp>
      <p:sp>
        <p:nvSpPr>
          <p:cNvPr id="19" name="Text 17"/>
          <p:cNvSpPr/>
          <p:nvPr/>
        </p:nvSpPr>
        <p:spPr>
          <a:xfrm>
            <a:off x="1417320" y="4160520"/>
            <a:ext cx="3840480" cy="594360"/>
          </a:xfrm>
          <a:prstGeom prst="rect">
            <a:avLst/>
          </a:prstGeom>
          <a:noFill/>
          <a:ln/>
        </p:spPr>
        <p:txBody>
          <a:bodyPr wrap="square" lIns="0" tIns="0" rIns="0" bIns="0" rtlCol="0" anchor="t"/>
          <a:lstStyle/>
          <a:p>
            <a:pPr algn="l" indent="0" marL="0">
              <a:buNone/>
            </a:pPr>
            <a:r>
              <a:rPr lang="en-US" sz="1450" b="1" dirty="0">
                <a:solidFill>
                  <a:srgbClr val="FFFFFF"/>
                </a:solidFill>
                <a:latin typeface="Calibri" pitchFamily="34" charset="0"/>
                <a:ea typeface="Calibri" pitchFamily="34" charset="-122"/>
                <a:cs typeface="Calibri" pitchFamily="34" charset="-120"/>
              </a:rPr>
              <a:t>Runs on common platforms</a:t>
            </a:r>
            <a:endParaRPr lang="en-US" sz="1450" dirty="0"/>
          </a:p>
        </p:txBody>
      </p:sp>
      <p:sp>
        <p:nvSpPr>
          <p:cNvPr id="20" name="Text 18"/>
          <p:cNvSpPr/>
          <p:nvPr/>
        </p:nvSpPr>
        <p:spPr>
          <a:xfrm>
            <a:off x="731520" y="4846320"/>
            <a:ext cx="4526280" cy="914400"/>
          </a:xfrm>
          <a:prstGeom prst="rect">
            <a:avLst/>
          </a:prstGeom>
          <a:noFill/>
          <a:ln/>
        </p:spPr>
        <p:txBody>
          <a:bodyPr wrap="square" lIns="0" tIns="0" rIns="0" bIns="0" rtlCol="0" anchor="t"/>
          <a:lstStyle/>
          <a:p>
            <a:pPr algn="l" indent="0" marL="0">
              <a:lnSpc>
                <a:spcPct val="115000"/>
              </a:lnSpc>
              <a:buNone/>
            </a:pPr>
            <a:r>
              <a:rPr lang="en-US" sz="1150" dirty="0">
                <a:solidFill>
                  <a:srgbClr val="8B949E"/>
                </a:solidFill>
                <a:latin typeface="Calibri" pitchFamily="34" charset="0"/>
                <a:ea typeface="Calibri" pitchFamily="34" charset="-122"/>
                <a:cs typeface="Calibri" pitchFamily="34" charset="-120"/>
              </a:rPr>
              <a:t>Implemented and tested on Ubuntu/WSL, so classmates and reviewers can run it without special setup.</a:t>
            </a:r>
            <a:endParaRPr lang="en-US" sz="1150" dirty="0"/>
          </a:p>
        </p:txBody>
      </p:sp>
      <p:sp>
        <p:nvSpPr>
          <p:cNvPr id="21" name="Shape 19"/>
          <p:cNvSpPr/>
          <p:nvPr/>
        </p:nvSpPr>
        <p:spPr>
          <a:xfrm>
            <a:off x="5852160" y="3931920"/>
            <a:ext cx="5074920" cy="2011680"/>
          </a:xfrm>
          <a:prstGeom prst="roundRect">
            <a:avLst>
              <a:gd name="adj" fmla="val 3636"/>
            </a:avLst>
          </a:prstGeom>
          <a:solidFill>
            <a:srgbClr val="161B22"/>
          </a:solidFill>
          <a:ln w="12700">
            <a:solidFill>
              <a:srgbClr val="30363D"/>
            </a:solidFill>
            <a:prstDash val="solid"/>
          </a:ln>
        </p:spPr>
        <p:txBody>
          <a:bodyPr/>
          <a:p/>
        </p:txBody>
      </p:sp>
      <p:sp>
        <p:nvSpPr>
          <p:cNvPr id="22" name="Shape 20"/>
          <p:cNvSpPr/>
          <p:nvPr/>
        </p:nvSpPr>
        <p:spPr>
          <a:xfrm>
            <a:off x="6126480" y="4206240"/>
            <a:ext cx="502920" cy="502920"/>
          </a:xfrm>
          <a:prstGeom prst="ellipse">
            <a:avLst/>
          </a:prstGeom>
          <a:solidFill>
            <a:srgbClr val="1C2333"/>
          </a:solidFill>
          <a:ln w="19050">
            <a:solidFill>
              <a:srgbClr val="39D353"/>
            </a:solidFill>
            <a:prstDash val="solid"/>
          </a:ln>
        </p:spPr>
        <p:txBody>
          <a:bodyPr/>
          <a:p/>
        </p:txBody>
      </p:sp>
      <p:sp>
        <p:nvSpPr>
          <p:cNvPr id="23" name="Text 21"/>
          <p:cNvSpPr/>
          <p:nvPr/>
        </p:nvSpPr>
        <p:spPr>
          <a:xfrm>
            <a:off x="6126480" y="4206240"/>
            <a:ext cx="502920" cy="502920"/>
          </a:xfrm>
          <a:prstGeom prst="rect">
            <a:avLst/>
          </a:prstGeom>
          <a:noFill/>
          <a:ln/>
        </p:spPr>
        <p:txBody>
          <a:bodyPr wrap="square" lIns="0" tIns="0" rIns="0" bIns="0" rtlCol="0" anchor="ctr"/>
          <a:lstStyle/>
          <a:p>
            <a:pPr algn="ctr" indent="0" marL="0">
              <a:buNone/>
            </a:pPr>
            <a:r>
              <a:rPr lang="en-US" sz="1600" b="1" dirty="0">
                <a:solidFill>
                  <a:srgbClr val="39D353"/>
                </a:solidFill>
                <a:latin typeface="Courier New" pitchFamily="34" charset="0"/>
                <a:ea typeface="Courier New" pitchFamily="34" charset="-122"/>
                <a:cs typeface="Courier New" pitchFamily="34" charset="-120"/>
              </a:rPr>
              <a:t>4</a:t>
            </a:r>
            <a:endParaRPr lang="en-US" sz="1600" dirty="0"/>
          </a:p>
        </p:txBody>
      </p:sp>
      <p:sp>
        <p:nvSpPr>
          <p:cNvPr id="24" name="Text 22"/>
          <p:cNvSpPr/>
          <p:nvPr/>
        </p:nvSpPr>
        <p:spPr>
          <a:xfrm>
            <a:off x="6812280" y="4160520"/>
            <a:ext cx="3840480" cy="594360"/>
          </a:xfrm>
          <a:prstGeom prst="rect">
            <a:avLst/>
          </a:prstGeom>
          <a:noFill/>
          <a:ln/>
        </p:spPr>
        <p:txBody>
          <a:bodyPr wrap="square" lIns="0" tIns="0" rIns="0" bIns="0" rtlCol="0" anchor="t"/>
          <a:lstStyle/>
          <a:p>
            <a:pPr algn="l" indent="0" marL="0">
              <a:buNone/>
            </a:pPr>
            <a:r>
              <a:rPr lang="en-US" sz="1450" b="1" dirty="0">
                <a:solidFill>
                  <a:srgbClr val="FFFFFF"/>
                </a:solidFill>
                <a:latin typeface="Calibri" pitchFamily="34" charset="0"/>
                <a:ea typeface="Calibri" pitchFamily="34" charset="-122"/>
                <a:cs typeface="Calibri" pitchFamily="34" charset="-120"/>
              </a:rPr>
              <a:t>Usable as a teaching example</a:t>
            </a:r>
            <a:endParaRPr lang="en-US" sz="1450" dirty="0"/>
          </a:p>
        </p:txBody>
      </p:sp>
      <p:sp>
        <p:nvSpPr>
          <p:cNvPr id="25" name="Text 23"/>
          <p:cNvSpPr/>
          <p:nvPr/>
        </p:nvSpPr>
        <p:spPr>
          <a:xfrm>
            <a:off x="6126480" y="4846320"/>
            <a:ext cx="4526280" cy="914400"/>
          </a:xfrm>
          <a:prstGeom prst="rect">
            <a:avLst/>
          </a:prstGeom>
          <a:noFill/>
          <a:ln/>
        </p:spPr>
        <p:txBody>
          <a:bodyPr wrap="square" lIns="0" tIns="0" rIns="0" bIns="0" rtlCol="0" anchor="t"/>
          <a:lstStyle/>
          <a:p>
            <a:pPr algn="l" indent="0" marL="0">
              <a:lnSpc>
                <a:spcPct val="115000"/>
              </a:lnSpc>
              <a:buNone/>
            </a:pPr>
            <a:r>
              <a:rPr lang="en-US" sz="1150" dirty="0">
                <a:solidFill>
                  <a:srgbClr val="8B949E"/>
                </a:solidFill>
                <a:latin typeface="Calibri" pitchFamily="34" charset="0"/>
                <a:ea typeface="Calibri" pitchFamily="34" charset="-122"/>
                <a:cs typeface="Calibri" pitchFamily="34" charset="-120"/>
              </a:rPr>
              <a:t>Because each Unix concept (parsing, execution, jobs, signals, memory) is isolated in its own file, EduShell can be reused in OS/Systems Programming coursework.</a:t>
            </a:r>
            <a:endParaRPr lang="en-US" sz="1150" dirty="0"/>
          </a:p>
        </p:txBody>
      </p:sp>
      <p:sp>
        <p:nvSpPr>
          <p:cNvPr id="26" name="Text 24"/>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8B949E"/>
                </a:solidFill>
                <a:latin typeface="Courier New" pitchFamily="34" charset="0"/>
                <a:ea typeface="Courier New" pitchFamily="34" charset="-122"/>
                <a:cs typeface="Courier New" pitchFamily="34" charset="-120"/>
              </a:rPr>
              <a:t>EduShell — A Mini Unix-Like Shell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914400" y="822960"/>
            <a:ext cx="10360152" cy="4937760"/>
          </a:xfrm>
          <a:prstGeom prst="roundRect">
            <a:avLst>
              <a:gd name="adj" fmla="val 1481"/>
            </a:avLst>
          </a:prstGeom>
          <a:solidFill>
            <a:srgbClr val="161B22"/>
          </a:solidFill>
          <a:ln w="12700">
            <a:solidFill>
              <a:srgbClr val="30363D"/>
            </a:solidFill>
            <a:prstDash val="solid"/>
          </a:ln>
        </p:spPr>
        <p:txBody>
          <a:bodyPr/>
          <a:p/>
        </p:txBody>
      </p:sp>
      <p:sp>
        <p:nvSpPr>
          <p:cNvPr id="3" name="Shape 1"/>
          <p:cNvSpPr/>
          <p:nvPr/>
        </p:nvSpPr>
        <p:spPr>
          <a:xfrm>
            <a:off x="914400" y="822960"/>
            <a:ext cx="10360152" cy="292608"/>
          </a:xfrm>
          <a:prstGeom prst="roundRect">
            <a:avLst>
              <a:gd name="adj" fmla="val 18750"/>
            </a:avLst>
          </a:prstGeom>
          <a:solidFill>
            <a:srgbClr val="0B0F14"/>
          </a:solidFill>
          <a:ln/>
        </p:spPr>
        <p:txBody>
          <a:bodyPr/>
          <a:p/>
        </p:txBody>
      </p:sp>
      <p:sp>
        <p:nvSpPr>
          <p:cNvPr id="4" name="Shape 2"/>
          <p:cNvSpPr/>
          <p:nvPr/>
        </p:nvSpPr>
        <p:spPr>
          <a:xfrm>
            <a:off x="1024128" y="914400"/>
            <a:ext cx="109728" cy="109728"/>
          </a:xfrm>
          <a:prstGeom prst="ellipse">
            <a:avLst/>
          </a:prstGeom>
          <a:solidFill>
            <a:srgbClr val="F85149"/>
          </a:solidFill>
          <a:ln/>
        </p:spPr>
        <p:txBody>
          <a:bodyPr/>
          <a:p/>
        </p:txBody>
      </p:sp>
      <p:sp>
        <p:nvSpPr>
          <p:cNvPr id="5" name="Shape 3"/>
          <p:cNvSpPr/>
          <p:nvPr/>
        </p:nvSpPr>
        <p:spPr>
          <a:xfrm>
            <a:off x="1188720" y="914400"/>
            <a:ext cx="109728" cy="109728"/>
          </a:xfrm>
          <a:prstGeom prst="ellipse">
            <a:avLst/>
          </a:prstGeom>
          <a:solidFill>
            <a:srgbClr val="E3B341"/>
          </a:solidFill>
          <a:ln/>
        </p:spPr>
        <p:txBody>
          <a:bodyPr/>
          <a:p/>
        </p:txBody>
      </p:sp>
      <p:sp>
        <p:nvSpPr>
          <p:cNvPr id="6" name="Shape 4"/>
          <p:cNvSpPr/>
          <p:nvPr/>
        </p:nvSpPr>
        <p:spPr>
          <a:xfrm>
            <a:off x="1353312" y="914400"/>
            <a:ext cx="109728" cy="109728"/>
          </a:xfrm>
          <a:prstGeom prst="ellipse">
            <a:avLst/>
          </a:prstGeom>
          <a:solidFill>
            <a:srgbClr val="39D353"/>
          </a:solidFill>
          <a:ln/>
        </p:spPr>
        <p:txBody>
          <a:bodyPr/>
          <a:p/>
        </p:txBody>
      </p:sp>
      <p:sp>
        <p:nvSpPr>
          <p:cNvPr id="7" name="Text 5"/>
          <p:cNvSpPr/>
          <p:nvPr/>
        </p:nvSpPr>
        <p:spPr>
          <a:xfrm>
            <a:off x="1463040" y="804672"/>
            <a:ext cx="9628632" cy="329184"/>
          </a:xfrm>
          <a:prstGeom prst="rect">
            <a:avLst/>
          </a:prstGeom>
          <a:noFill/>
          <a:ln/>
        </p:spPr>
        <p:txBody>
          <a:bodyPr wrap="square" lIns="0" tIns="0" rIns="0" bIns="0" rtlCol="0" anchor="ctr"/>
          <a:lstStyle/>
          <a:p>
            <a:pPr algn="l" indent="0" marL="0">
              <a:buNone/>
            </a:pPr>
            <a:r>
              <a:rPr lang="en-US" sz="1000" dirty="0">
                <a:solidFill>
                  <a:srgbClr val="8B949E"/>
                </a:solidFill>
                <a:latin typeface="Courier New" pitchFamily="34" charset="0"/>
                <a:ea typeface="Courier New" pitchFamily="34" charset="-122"/>
                <a:cs typeface="Courier New" pitchFamily="34" charset="-120"/>
              </a:rPr>
              <a:t>summary --final</a:t>
            </a:r>
            <a:endParaRPr lang="en-US" sz="1000" dirty="0"/>
          </a:p>
        </p:txBody>
      </p:sp>
      <p:sp>
        <p:nvSpPr>
          <p:cNvPr id="8" name="Text 6"/>
          <p:cNvSpPr/>
          <p:nvPr/>
        </p:nvSpPr>
        <p:spPr>
          <a:xfrm>
            <a:off x="1371600" y="1325880"/>
            <a:ext cx="9445752" cy="548640"/>
          </a:xfrm>
          <a:prstGeom prst="rect">
            <a:avLst/>
          </a:prstGeom>
          <a:noFill/>
          <a:ln/>
        </p:spPr>
        <p:txBody>
          <a:bodyPr wrap="square" lIns="0" tIns="0" rIns="0" bIns="0" rtlCol="0" anchor="ctr"/>
          <a:lstStyle/>
          <a:p>
            <a:pPr indent="0" marL="0">
              <a:buNone/>
            </a:pPr>
            <a:r>
              <a:rPr lang="en-US" sz="3000" b="1" dirty="0">
                <a:solidFill>
                  <a:srgbClr val="FFFFFF"/>
                </a:solidFill>
                <a:latin typeface="Courier New" pitchFamily="34" charset="0"/>
                <a:ea typeface="Courier New" pitchFamily="34" charset="-122"/>
                <a:cs typeface="Courier New" pitchFamily="34" charset="-120"/>
              </a:rPr>
              <a:t>Conclusion</a:t>
            </a:r>
            <a:endParaRPr lang="en-US" sz="3000" dirty="0"/>
          </a:p>
        </p:txBody>
      </p:sp>
      <p:sp>
        <p:nvSpPr>
          <p:cNvPr id="9" name="Text 7"/>
          <p:cNvSpPr/>
          <p:nvPr/>
        </p:nvSpPr>
        <p:spPr>
          <a:xfrm>
            <a:off x="1371600" y="2057400"/>
            <a:ext cx="365760" cy="548640"/>
          </a:xfrm>
          <a:prstGeom prst="rect">
            <a:avLst/>
          </a:prstGeom>
          <a:noFill/>
          <a:ln/>
        </p:spPr>
        <p:txBody>
          <a:bodyPr wrap="square" lIns="0" tIns="0" rIns="0" bIns="0" rtlCol="0" anchor="ctr"/>
          <a:lstStyle/>
          <a:p>
            <a:pPr indent="0" marL="0">
              <a:buNone/>
            </a:pPr>
            <a:r>
              <a:rPr lang="en-US" sz="2000" b="1" dirty="0">
                <a:solidFill>
                  <a:srgbClr val="39D353"/>
                </a:solidFill>
                <a:latin typeface="Courier New" pitchFamily="34" charset="0"/>
                <a:ea typeface="Courier New" pitchFamily="34" charset="-122"/>
                <a:cs typeface="Courier New" pitchFamily="34" charset="-120"/>
              </a:rPr>
              <a:t>›</a:t>
            </a:r>
            <a:endParaRPr lang="en-US" sz="2000" dirty="0"/>
          </a:p>
        </p:txBody>
      </p:sp>
      <p:sp>
        <p:nvSpPr>
          <p:cNvPr id="10" name="Text 8"/>
          <p:cNvSpPr/>
          <p:nvPr/>
        </p:nvSpPr>
        <p:spPr>
          <a:xfrm>
            <a:off x="1783080" y="2057400"/>
            <a:ext cx="8897112" cy="777240"/>
          </a:xfrm>
          <a:prstGeom prst="rect">
            <a:avLst/>
          </a:prstGeom>
          <a:noFill/>
          <a:ln/>
        </p:spPr>
        <p:txBody>
          <a:bodyPr wrap="square" lIns="0" tIns="0" rIns="0" bIns="0" rtlCol="0" anchor="t"/>
          <a:lstStyle/>
          <a:p>
            <a:pPr algn="l" indent="0" marL="0">
              <a:lnSpc>
                <a:spcPct val="115000"/>
              </a:lnSpc>
              <a:buNone/>
            </a:pPr>
            <a:r>
              <a:rPr lang="en-US" sz="1350" dirty="0">
                <a:solidFill>
                  <a:srgbClr val="E6EDF3"/>
                </a:solidFill>
                <a:latin typeface="Calibri" pitchFamily="34" charset="0"/>
                <a:ea typeface="Calibri" pitchFamily="34" charset="-122"/>
                <a:cs typeface="Calibri" pitchFamily="34" charset="-120"/>
              </a:rPr>
              <a:t>EduShell demonstrates a complete, self-built Unix shell pipeline: lexing, parsing, execution, job control, signals, and memory monitoring.</a:t>
            </a:r>
            <a:endParaRPr lang="en-US" sz="1350" dirty="0"/>
          </a:p>
        </p:txBody>
      </p:sp>
      <p:sp>
        <p:nvSpPr>
          <p:cNvPr id="11" name="Text 9"/>
          <p:cNvSpPr/>
          <p:nvPr/>
        </p:nvSpPr>
        <p:spPr>
          <a:xfrm>
            <a:off x="1371600" y="2898648"/>
            <a:ext cx="365760" cy="548640"/>
          </a:xfrm>
          <a:prstGeom prst="rect">
            <a:avLst/>
          </a:prstGeom>
          <a:noFill/>
          <a:ln/>
        </p:spPr>
        <p:txBody>
          <a:bodyPr wrap="square" lIns="0" tIns="0" rIns="0" bIns="0" rtlCol="0" anchor="ctr"/>
          <a:lstStyle/>
          <a:p>
            <a:pPr indent="0" marL="0">
              <a:buNone/>
            </a:pPr>
            <a:r>
              <a:rPr lang="en-US" sz="2000" b="1" dirty="0">
                <a:solidFill>
                  <a:srgbClr val="39D353"/>
                </a:solidFill>
                <a:latin typeface="Courier New" pitchFamily="34" charset="0"/>
                <a:ea typeface="Courier New" pitchFamily="34" charset="-122"/>
                <a:cs typeface="Courier New" pitchFamily="34" charset="-120"/>
              </a:rPr>
              <a:t>›</a:t>
            </a:r>
            <a:endParaRPr lang="en-US" sz="2000" dirty="0"/>
          </a:p>
        </p:txBody>
      </p:sp>
      <p:sp>
        <p:nvSpPr>
          <p:cNvPr id="12" name="Text 10"/>
          <p:cNvSpPr/>
          <p:nvPr/>
        </p:nvSpPr>
        <p:spPr>
          <a:xfrm>
            <a:off x="1783080" y="2898648"/>
            <a:ext cx="8897112" cy="777240"/>
          </a:xfrm>
          <a:prstGeom prst="rect">
            <a:avLst/>
          </a:prstGeom>
          <a:noFill/>
          <a:ln/>
        </p:spPr>
        <p:txBody>
          <a:bodyPr wrap="square" lIns="0" tIns="0" rIns="0" bIns="0" rtlCol="0" anchor="t"/>
          <a:lstStyle/>
          <a:p>
            <a:pPr algn="l" indent="0" marL="0">
              <a:lnSpc>
                <a:spcPct val="115000"/>
              </a:lnSpc>
              <a:buNone/>
            </a:pPr>
            <a:r>
              <a:rPr lang="en-US" sz="1350" dirty="0">
                <a:solidFill>
                  <a:srgbClr val="E6EDF3"/>
                </a:solidFill>
                <a:latin typeface="Calibri" pitchFamily="34" charset="0"/>
                <a:ea typeface="Calibri" pitchFamily="34" charset="-122"/>
                <a:cs typeface="Calibri" pitchFamily="34" charset="-120"/>
              </a:rPr>
              <a:t>Its modular src/include structure makes the methodology novel, adaptable to new features, testable in isolation, and easy to disseminate.</a:t>
            </a:r>
            <a:endParaRPr lang="en-US" sz="1350" dirty="0"/>
          </a:p>
        </p:txBody>
      </p:sp>
      <p:sp>
        <p:nvSpPr>
          <p:cNvPr id="13" name="Text 11"/>
          <p:cNvSpPr/>
          <p:nvPr/>
        </p:nvSpPr>
        <p:spPr>
          <a:xfrm>
            <a:off x="1371600" y="3739896"/>
            <a:ext cx="365760" cy="548640"/>
          </a:xfrm>
          <a:prstGeom prst="rect">
            <a:avLst/>
          </a:prstGeom>
          <a:noFill/>
          <a:ln/>
        </p:spPr>
        <p:txBody>
          <a:bodyPr wrap="square" lIns="0" tIns="0" rIns="0" bIns="0" rtlCol="0" anchor="ctr"/>
          <a:lstStyle/>
          <a:p>
            <a:pPr indent="0" marL="0">
              <a:buNone/>
            </a:pPr>
            <a:r>
              <a:rPr lang="en-US" sz="2000" b="1" dirty="0">
                <a:solidFill>
                  <a:srgbClr val="39D353"/>
                </a:solidFill>
                <a:latin typeface="Courier New" pitchFamily="34" charset="0"/>
                <a:ea typeface="Courier New" pitchFamily="34" charset="-122"/>
                <a:cs typeface="Courier New" pitchFamily="34" charset="-120"/>
              </a:rPr>
              <a:t>›</a:t>
            </a:r>
            <a:endParaRPr lang="en-US" sz="2000" dirty="0"/>
          </a:p>
        </p:txBody>
      </p:sp>
      <p:sp>
        <p:nvSpPr>
          <p:cNvPr id="14" name="Text 12"/>
          <p:cNvSpPr/>
          <p:nvPr/>
        </p:nvSpPr>
        <p:spPr>
          <a:xfrm>
            <a:off x="1783080" y="3739896"/>
            <a:ext cx="8897112" cy="777240"/>
          </a:xfrm>
          <a:prstGeom prst="rect">
            <a:avLst/>
          </a:prstGeom>
          <a:noFill/>
          <a:ln/>
        </p:spPr>
        <p:txBody>
          <a:bodyPr wrap="square" lIns="0" tIns="0" rIns="0" bIns="0" rtlCol="0" anchor="t"/>
          <a:lstStyle/>
          <a:p>
            <a:pPr algn="l" indent="0" marL="0">
              <a:lnSpc>
                <a:spcPct val="115000"/>
              </a:lnSpc>
              <a:buNone/>
            </a:pPr>
            <a:r>
              <a:rPr lang="en-US" sz="1350" dirty="0">
                <a:solidFill>
                  <a:srgbClr val="E6EDF3"/>
                </a:solidFill>
                <a:latin typeface="Calibri" pitchFamily="34" charset="0"/>
                <a:ea typeface="Calibri" pitchFamily="34" charset="-122"/>
                <a:cs typeface="Calibri" pitchFamily="34" charset="-120"/>
              </a:rPr>
              <a:t>All core features — pipes, redirection, background/foreground jobs, and memstat — were verified through functional testing on Ubuntu/WSL.</a:t>
            </a:r>
            <a:endParaRPr lang="en-US" sz="1350" dirty="0"/>
          </a:p>
        </p:txBody>
      </p:sp>
      <p:sp>
        <p:nvSpPr>
          <p:cNvPr id="15" name="Text 13"/>
          <p:cNvSpPr/>
          <p:nvPr/>
        </p:nvSpPr>
        <p:spPr>
          <a:xfrm>
            <a:off x="1371600" y="4581144"/>
            <a:ext cx="365760" cy="548640"/>
          </a:xfrm>
          <a:prstGeom prst="rect">
            <a:avLst/>
          </a:prstGeom>
          <a:noFill/>
          <a:ln/>
        </p:spPr>
        <p:txBody>
          <a:bodyPr wrap="square" lIns="0" tIns="0" rIns="0" bIns="0" rtlCol="0" anchor="ctr"/>
          <a:lstStyle/>
          <a:p>
            <a:pPr indent="0" marL="0">
              <a:buNone/>
            </a:pPr>
            <a:r>
              <a:rPr lang="en-US" sz="2000" b="1" dirty="0">
                <a:solidFill>
                  <a:srgbClr val="39D353"/>
                </a:solidFill>
                <a:latin typeface="Courier New" pitchFamily="34" charset="0"/>
                <a:ea typeface="Courier New" pitchFamily="34" charset="-122"/>
                <a:cs typeface="Courier New" pitchFamily="34" charset="-120"/>
              </a:rPr>
              <a:t>›</a:t>
            </a:r>
            <a:endParaRPr lang="en-US" sz="2000" dirty="0"/>
          </a:p>
        </p:txBody>
      </p:sp>
      <p:sp>
        <p:nvSpPr>
          <p:cNvPr id="16" name="Text 14"/>
          <p:cNvSpPr/>
          <p:nvPr/>
        </p:nvSpPr>
        <p:spPr>
          <a:xfrm>
            <a:off x="1783080" y="4581144"/>
            <a:ext cx="8897112" cy="777240"/>
          </a:xfrm>
          <a:prstGeom prst="rect">
            <a:avLst/>
          </a:prstGeom>
          <a:noFill/>
          <a:ln/>
        </p:spPr>
        <p:txBody>
          <a:bodyPr wrap="square" lIns="0" tIns="0" rIns="0" bIns="0" rtlCol="0" anchor="t"/>
          <a:lstStyle/>
          <a:p>
            <a:pPr algn="l" indent="0" marL="0">
              <a:lnSpc>
                <a:spcPct val="115000"/>
              </a:lnSpc>
              <a:buNone/>
            </a:pPr>
            <a:r>
              <a:rPr lang="en-US" sz="1350" dirty="0">
                <a:solidFill>
                  <a:srgbClr val="E6EDF3"/>
                </a:solidFill>
                <a:latin typeface="Calibri" pitchFamily="34" charset="0"/>
                <a:ea typeface="Calibri" pitchFamily="34" charset="-122"/>
                <a:cs typeface="Calibri" pitchFamily="34" charset="-120"/>
              </a:rPr>
              <a:t>The project is structured for reuse: as a base for future shell features, or as a teaching example in systems programming courses.</a:t>
            </a:r>
            <a:endParaRPr lang="en-US" sz="1350" dirty="0"/>
          </a:p>
        </p:txBody>
      </p:sp>
      <p:sp>
        <p:nvSpPr>
          <p:cNvPr id="17" name="Text 15"/>
          <p:cNvSpPr/>
          <p:nvPr/>
        </p:nvSpPr>
        <p:spPr>
          <a:xfrm>
            <a:off x="1371600" y="5257800"/>
            <a:ext cx="9445752" cy="320040"/>
          </a:xfrm>
          <a:prstGeom prst="rect">
            <a:avLst/>
          </a:prstGeom>
          <a:noFill/>
          <a:ln/>
        </p:spPr>
        <p:txBody>
          <a:bodyPr wrap="square" lIns="0" tIns="0" rIns="0" bIns="0" rtlCol="0" anchor="ctr"/>
          <a:lstStyle/>
          <a:p>
            <a:pPr indent="0" marL="0">
              <a:buNone/>
            </a:pPr>
            <a:r>
              <a:rPr lang="en-US" sz="1300" dirty="0">
                <a:solidFill>
                  <a:srgbClr val="39D353"/>
                </a:solidFill>
                <a:latin typeface="Courier New" pitchFamily="34" charset="0"/>
                <a:ea typeface="Courier New" pitchFamily="34" charset="-122"/>
                <a:cs typeface="Courier New" pitchFamily="34" charset="-120"/>
              </a:rPr>
              <a:t>edushell$ echo "Thank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2026-09-15T13:56:20Z</dcterms:created>
  <dcterms:modified xsi:type="dcterms:W3CDTF">2026-09-15T13:56:20Z</dcterms:modified>
</cp:coreProperties>
</file>